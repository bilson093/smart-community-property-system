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6"/>
  </p:notesMasterIdLst>
  <p:handoutMasterIdLst>
    <p:handoutMasterId r:id="rId37"/>
  </p:handoutMasterIdLst>
  <p:sldIdLst>
    <p:sldId id="452" r:id="rId4"/>
    <p:sldId id="458" r:id="rId5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9" r:id="rId15"/>
    <p:sldId id="467" r:id="rId16"/>
    <p:sldId id="468" r:id="rId17"/>
    <p:sldId id="448" r:id="rId18"/>
    <p:sldId id="449" r:id="rId19"/>
    <p:sldId id="438" r:id="rId20"/>
    <p:sldId id="434" r:id="rId21"/>
    <p:sldId id="435" r:id="rId22"/>
    <p:sldId id="436" r:id="rId23"/>
    <p:sldId id="439" r:id="rId24"/>
    <p:sldId id="429" r:id="rId25"/>
    <p:sldId id="430" r:id="rId26"/>
    <p:sldId id="431" r:id="rId27"/>
    <p:sldId id="440" r:id="rId28"/>
    <p:sldId id="441" r:id="rId29"/>
    <p:sldId id="442" r:id="rId30"/>
    <p:sldId id="443" r:id="rId31"/>
    <p:sldId id="444" r:id="rId32"/>
    <p:sldId id="428" r:id="rId33"/>
    <p:sldId id="470" r:id="rId34"/>
    <p:sldId id="471" r:id="rId35"/>
    <p:sldId id="472" r:id="rId36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99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5"/>
  </p:normalViewPr>
  <p:slideViewPr>
    <p:cSldViewPr showGuides="1">
      <p:cViewPr varScale="1">
        <p:scale>
          <a:sx n="79" d="100"/>
          <a:sy n="79" d="100"/>
        </p:scale>
        <p:origin x="108" y="744"/>
      </p:cViewPr>
      <p:guideLst>
        <p:guide orient="horz" pos="2175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1" Type="http://schemas.openxmlformats.org/officeDocument/2006/relationships/tags" Target="tags/tag3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86100" y="514350"/>
            <a:ext cx="3427413" cy="2570163"/>
          </a:xfrm>
        </p:spPr>
      </p:sp>
      <p:sp>
        <p:nvSpPr>
          <p:cNvPr id="27651" name="Rectangle 3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86100" y="514350"/>
            <a:ext cx="3427413" cy="2570163"/>
          </a:xfrm>
        </p:spPr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16213" y="304800"/>
            <a:ext cx="4162425" cy="3122613"/>
          </a:xfrm>
        </p:spPr>
      </p:sp>
      <p:sp>
        <p:nvSpPr>
          <p:cNvPr id="68611" name="Rectangle 3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16213" y="304800"/>
            <a:ext cx="4162425" cy="3122613"/>
          </a:xfrm>
        </p:spPr>
      </p:sp>
      <p:sp>
        <p:nvSpPr>
          <p:cNvPr id="70659" name="Notes Placeholder 2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16213" y="304800"/>
            <a:ext cx="4162425" cy="3122613"/>
          </a:xfrm>
        </p:spPr>
      </p:sp>
      <p:sp>
        <p:nvSpPr>
          <p:cNvPr id="70659" name="Notes Placeholder 2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16213" y="304800"/>
            <a:ext cx="4162425" cy="3122613"/>
          </a:xfrm>
        </p:spPr>
      </p:sp>
      <p:sp>
        <p:nvSpPr>
          <p:cNvPr id="72707" name="Notes Placeholder 2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86100" y="514350"/>
            <a:ext cx="3427413" cy="2570163"/>
          </a:xfrm>
        </p:spPr>
      </p:sp>
      <p:sp>
        <p:nvSpPr>
          <p:cNvPr id="145411" name="Rectangle 3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86100" y="514350"/>
            <a:ext cx="3427413" cy="2570163"/>
          </a:xfrm>
        </p:spPr>
      </p:sp>
      <p:sp>
        <p:nvSpPr>
          <p:cNvPr id="147459" name="Rectangle 3"/>
          <p:cNvSpPr>
            <a:spLocks noGrp="1"/>
          </p:cNvSpPr>
          <p:nvPr>
            <p:ph type="body"/>
          </p:nvPr>
        </p:nvSpPr>
        <p:spPr>
          <a:xfrm>
            <a:off x="960438" y="3255963"/>
            <a:ext cx="7677150" cy="308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/>
          <p:nvPr userDrawn="1"/>
        </p:nvSpPr>
        <p:spPr>
          <a:xfrm>
            <a:off x="-2514600" y="3351213"/>
            <a:ext cx="3657600" cy="3657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4000" h="64000">
                <a:moveTo>
                  <a:pt x="44083" y="2368"/>
                </a:moveTo>
                <a:cubicBezTo>
                  <a:pt x="56127" y="7280"/>
                  <a:pt x="64000" y="18993"/>
                  <a:pt x="64000" y="32000"/>
                </a:cubicBezTo>
                <a:cubicBezTo>
                  <a:pt x="64000" y="45006"/>
                  <a:pt x="56127" y="56719"/>
                  <a:pt x="44083" y="61631"/>
                </a:cubicBezTo>
                <a:cubicBezTo>
                  <a:pt x="44082" y="61631"/>
                  <a:pt x="44082" y="61631"/>
                  <a:pt x="44082" y="61631"/>
                </a:cubicBezTo>
                <a:lnTo>
                  <a:pt x="44083" y="61632"/>
                </a:lnTo>
                <a:lnTo>
                  <a:pt x="44083" y="2368"/>
                </a:lnTo>
                <a:lnTo>
                  <a:pt x="44082" y="2368"/>
                </a:lnTo>
                <a:cubicBezTo>
                  <a:pt x="44082" y="2368"/>
                  <a:pt x="44082" y="2368"/>
                  <a:pt x="44083" y="2368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AutoShape 3"/>
          <p:cNvSpPr/>
          <p:nvPr userDrawn="1"/>
        </p:nvSpPr>
        <p:spPr>
          <a:xfrm>
            <a:off x="-3222625" y="2284413"/>
            <a:ext cx="4038600" cy="4038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524000" y="1676400"/>
            <a:ext cx="7239000" cy="1444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4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3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2243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743200" y="2514600"/>
            <a:ext cx="6648450" cy="646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软件质量保证与测试（第二版）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47800" y="3505200"/>
            <a:ext cx="7239000" cy="1444625"/>
          </a:xfrm>
        </p:spPr>
        <p:txBody>
          <a:bodyPr/>
          <a:lstStyle>
            <a:lvl1pPr algn="ctr">
              <a:defRPr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清华大学出版社•21世纪高等学校规划教材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6900" y="114300"/>
            <a:ext cx="1943100" cy="58277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114300"/>
            <a:ext cx="5678487" cy="58277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  <a:defRPr/>
            </a:pPr>
            <a:endParaRPr kumimoji="0" lang="zh-CN" altLang="en-US" sz="2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/>
          <p:nvPr userDrawn="1"/>
        </p:nvSpPr>
        <p:spPr>
          <a:xfrm>
            <a:off x="-2514600" y="3351213"/>
            <a:ext cx="3657600" cy="3657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4000" h="64000">
                <a:moveTo>
                  <a:pt x="44083" y="2368"/>
                </a:moveTo>
                <a:cubicBezTo>
                  <a:pt x="56127" y="7280"/>
                  <a:pt x="64000" y="18993"/>
                  <a:pt x="64000" y="32000"/>
                </a:cubicBezTo>
                <a:cubicBezTo>
                  <a:pt x="64000" y="45006"/>
                  <a:pt x="56127" y="56719"/>
                  <a:pt x="44083" y="61631"/>
                </a:cubicBezTo>
                <a:cubicBezTo>
                  <a:pt x="44082" y="61631"/>
                  <a:pt x="44082" y="61631"/>
                  <a:pt x="44082" y="61631"/>
                </a:cubicBezTo>
                <a:lnTo>
                  <a:pt x="44083" y="61632"/>
                </a:lnTo>
                <a:lnTo>
                  <a:pt x="44083" y="2368"/>
                </a:lnTo>
                <a:lnTo>
                  <a:pt x="44082" y="2368"/>
                </a:lnTo>
                <a:cubicBezTo>
                  <a:pt x="44082" y="2368"/>
                  <a:pt x="44082" y="2368"/>
                  <a:pt x="44083" y="2368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051" name="AutoShape 3"/>
          <p:cNvSpPr/>
          <p:nvPr userDrawn="1"/>
        </p:nvSpPr>
        <p:spPr>
          <a:xfrm>
            <a:off x="-3222625" y="2284413"/>
            <a:ext cx="4038600" cy="4038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524000" y="1676400"/>
            <a:ext cx="7239000" cy="1444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4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3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2243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743200" y="2514600"/>
            <a:ext cx="6648450" cy="646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软件质量保证与测试（第二版）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47800" y="3505200"/>
            <a:ext cx="7239000" cy="1444625"/>
          </a:xfrm>
        </p:spPr>
        <p:txBody>
          <a:bodyPr/>
          <a:lstStyle>
            <a:lvl1pPr algn="ctr">
              <a:defRPr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清华大学出版社•21世纪高等学校规划教材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6900" y="114300"/>
            <a:ext cx="1943100" cy="58277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114300"/>
            <a:ext cx="5678487" cy="58277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  <a:defRPr/>
            </a:pPr>
            <a:endParaRPr kumimoji="0" lang="zh-CN" altLang="en-US" sz="2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/>
            <p:nvPr/>
          </p:nvSpPr>
          <p:spPr>
            <a:xfrm>
              <a:off x="-2040" y="432"/>
              <a:ext cx="2592" cy="19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AutoShape 4"/>
            <p:cNvSpPr/>
            <p:nvPr/>
          </p:nvSpPr>
          <p:spPr>
            <a:xfrm>
              <a:off x="-1528" y="0"/>
              <a:ext cx="1949" cy="1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5"/>
            <p:cNvSpPr/>
            <p:nvPr/>
          </p:nvSpPr>
          <p:spPr>
            <a:xfrm>
              <a:off x="864" y="960"/>
              <a:ext cx="4608" cy="0"/>
            </a:xfrm>
            <a:prstGeom prst="line">
              <a:avLst/>
            </a:prstGeom>
            <a:ln w="76200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7" name="Rectangle 6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7"/>
          <p:cNvSpPr>
            <a:spLocks noGrp="1"/>
          </p:cNvSpPr>
          <p:nvPr>
            <p:ph type="body"/>
          </p:nvPr>
        </p:nvSpPr>
        <p:spPr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 thruBlk="1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p"/>
        <a:defRPr sz="29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1B1A"/>
        </a:buClr>
        <a:buSzPct val="70000"/>
        <a:buFont typeface="Wingdings" panose="05000000000000000000" pitchFamily="2" charset="2"/>
        <a:buChar char="l"/>
        <a:defRPr sz="2500">
          <a:solidFill>
            <a:schemeClr val="tx2"/>
          </a:solidFill>
          <a:latin typeface="+mn-lt"/>
          <a:ea typeface="+mj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/>
            <p:nvPr/>
          </p:nvSpPr>
          <p:spPr>
            <a:xfrm>
              <a:off x="-2040" y="432"/>
              <a:ext cx="2592" cy="19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3" name="AutoShape 4"/>
            <p:cNvSpPr/>
            <p:nvPr/>
          </p:nvSpPr>
          <p:spPr>
            <a:xfrm>
              <a:off x="-1528" y="0"/>
              <a:ext cx="1949" cy="1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4" name="Line 5"/>
            <p:cNvSpPr/>
            <p:nvPr/>
          </p:nvSpPr>
          <p:spPr>
            <a:xfrm>
              <a:off x="864" y="960"/>
              <a:ext cx="4608" cy="0"/>
            </a:xfrm>
            <a:prstGeom prst="line">
              <a:avLst/>
            </a:prstGeom>
            <a:ln w="76200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7" name="Rectangle 6"/>
          <p:cNvSpPr>
            <a:spLocks noGrp="1"/>
          </p:cNvSpPr>
          <p:nvPr>
            <p:ph type="title"/>
          </p:nvPr>
        </p:nvSpPr>
        <p:spPr>
          <a:xfrm>
            <a:off x="1116013" y="114300"/>
            <a:ext cx="777398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7"/>
          <p:cNvSpPr>
            <a:spLocks noGrp="1"/>
          </p:cNvSpPr>
          <p:nvPr>
            <p:ph type="body"/>
          </p:nvPr>
        </p:nvSpPr>
        <p:spPr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fade thruBlk="1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p"/>
        <a:defRPr sz="29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1B1A"/>
        </a:buClr>
        <a:buSzPct val="70000"/>
        <a:buFont typeface="Wingdings" panose="05000000000000000000" pitchFamily="2" charset="2"/>
        <a:buChar char="l"/>
        <a:defRPr sz="2500">
          <a:solidFill>
            <a:schemeClr val="tx2"/>
          </a:solidFill>
          <a:latin typeface="+mn-lt"/>
          <a:ea typeface="+mj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zh-CN" altLang="en-US"/>
              <a:t>等价类划分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19138" y="476250"/>
            <a:ext cx="59055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等价类划分方法</a:t>
            </a:r>
            <a:endParaRPr kumimoji="0" lang="zh-CN" altLang="en-US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519113" y="1712913"/>
            <a:ext cx="8251825" cy="3176587"/>
          </a:xfrm>
        </p:spPr>
        <p:txBody>
          <a:bodyPr vert="horz" wrap="square" lIns="91440" tIns="45720" rIns="91440" bIns="45720" anchor="t" anchorCtr="0"/>
          <a:lstStyle/>
          <a:p>
            <a:pPr marL="447675" lvl="2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将程序可能的输入数据分成若干个子集，从每个子集选取一个代表性的数据作为测试用例</a:t>
            </a:r>
            <a:r>
              <a:rPr lang="zh-CN" altLang="de-DE" sz="2400" dirty="0">
                <a:latin typeface="Times New Roman" panose="02020603050405020304" pitchFamily="18" charset="0"/>
              </a:rPr>
              <a:t>，等价类是某个输入域的子集，在该子集中每个输入数据的作用是等效的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447675" lvl="2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分为有效等价类和无效等价类</a:t>
            </a:r>
            <a:r>
              <a:rPr lang="zh-CN" altLang="en-US" sz="2400" dirty="0">
                <a:latin typeface="Times New Roman" panose="02020603050405020304" pitchFamily="18" charset="0"/>
              </a:rPr>
              <a:t>。有效等价类是有意义的、合理的输入数据，可检查程序是否实现了规格说明中所规定的功能和性能。无效等价类与有效等价类的意义相反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47675" lvl="2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分析需求规格说明的基础上</a:t>
            </a:r>
            <a:r>
              <a:rPr lang="zh-CN" altLang="en-US" sz="2400" dirty="0">
                <a:latin typeface="Times New Roman" panose="02020603050405020304" pitchFamily="18" charset="0"/>
              </a:rPr>
              <a:t>划分等价类，列出等价类表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628" name="Rectangle 23"/>
          <p:cNvSpPr/>
          <p:nvPr/>
        </p:nvSpPr>
        <p:spPr>
          <a:xfrm>
            <a:off x="957263" y="4597400"/>
            <a:ext cx="3833812" cy="1538288"/>
          </a:xfrm>
          <a:prstGeom prst="rect">
            <a:avLst/>
          </a:prstGeom>
          <a:noFill/>
          <a:ln w="12700" cap="flat" cmpd="sng">
            <a:solidFill>
              <a:srgbClr val="0000FF"/>
            </a:solidFill>
            <a:prstDash val="dashDot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3366FF"/>
                </a:solidFill>
              </a:rPr>
              <a:t>设计测试用例时，要同时考虑这两种等价类。因为软件不仅要能接收合理的数据，也要能经受意外的考验。经过正反的测试才能确保软件具有更高的可靠性。</a:t>
            </a:r>
            <a:endParaRPr lang="zh-CN" altLang="en-US" sz="2000" dirty="0">
              <a:solidFill>
                <a:srgbClr val="3366FF"/>
              </a:solidFill>
            </a:endParaRPr>
          </a:p>
        </p:txBody>
      </p:sp>
      <p:grpSp>
        <p:nvGrpSpPr>
          <p:cNvPr id="26629" name="Group 24"/>
          <p:cNvGrpSpPr/>
          <p:nvPr/>
        </p:nvGrpSpPr>
        <p:grpSpPr>
          <a:xfrm>
            <a:off x="4973638" y="4487863"/>
            <a:ext cx="3870325" cy="1866900"/>
            <a:chOff x="2775" y="2800"/>
            <a:chExt cx="2830" cy="1176"/>
          </a:xfrm>
        </p:grpSpPr>
        <p:grpSp>
          <p:nvGrpSpPr>
            <p:cNvPr id="26634" name="Group 25"/>
            <p:cNvGrpSpPr/>
            <p:nvPr/>
          </p:nvGrpSpPr>
          <p:grpSpPr>
            <a:xfrm>
              <a:off x="2775" y="2832"/>
              <a:ext cx="2630" cy="920"/>
              <a:chOff x="1402" y="3176"/>
              <a:chExt cx="2630" cy="920"/>
            </a:xfrm>
          </p:grpSpPr>
          <p:sp>
            <p:nvSpPr>
              <p:cNvPr id="26649" name="Oval 26"/>
              <p:cNvSpPr/>
              <p:nvPr/>
            </p:nvSpPr>
            <p:spPr>
              <a:xfrm>
                <a:off x="1968" y="3176"/>
                <a:ext cx="2064" cy="920"/>
              </a:xfrm>
              <a:prstGeom prst="ellipse">
                <a:avLst/>
              </a:prstGeom>
              <a:solidFill>
                <a:srgbClr val="FF9900"/>
              </a:soli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  <p:sp>
            <p:nvSpPr>
              <p:cNvPr id="26650" name="Text Box 27"/>
              <p:cNvSpPr txBox="1"/>
              <p:nvPr/>
            </p:nvSpPr>
            <p:spPr>
              <a:xfrm>
                <a:off x="1402" y="3818"/>
                <a:ext cx="831" cy="231"/>
              </a:xfrm>
              <a:prstGeom prst="rect">
                <a:avLst/>
              </a:prstGeom>
              <a:solidFill>
                <a:srgbClr val="FF9900"/>
              </a:solidFill>
              <a:ln w="381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800" dirty="0">
                    <a:solidFill>
                      <a:srgbClr val="FFFF66"/>
                    </a:solidFill>
                    <a:latin typeface="Comic Sans MS" panose="030F0702030302020204" pitchFamily="66" charset="0"/>
                  </a:rPr>
                  <a:t>all inputs</a:t>
                </a:r>
                <a:endParaRPr lang="en-GB" altLang="zh-CN" sz="1800" dirty="0">
                  <a:solidFill>
                    <a:srgbClr val="FFFF66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6635" name="Group 28"/>
            <p:cNvGrpSpPr/>
            <p:nvPr/>
          </p:nvGrpSpPr>
          <p:grpSpPr>
            <a:xfrm>
              <a:off x="2869" y="2800"/>
              <a:ext cx="2736" cy="1176"/>
              <a:chOff x="1496" y="3144"/>
              <a:chExt cx="2736" cy="1176"/>
            </a:xfrm>
          </p:grpSpPr>
          <p:sp>
            <p:nvSpPr>
              <p:cNvPr id="26645" name="Line 29"/>
              <p:cNvSpPr/>
              <p:nvPr/>
            </p:nvSpPr>
            <p:spPr>
              <a:xfrm>
                <a:off x="1496" y="3144"/>
                <a:ext cx="1424" cy="528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6" name="Line 30"/>
              <p:cNvSpPr/>
              <p:nvPr/>
            </p:nvSpPr>
            <p:spPr>
              <a:xfrm flipH="1">
                <a:off x="2848" y="3680"/>
                <a:ext cx="64" cy="64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7" name="Line 31"/>
              <p:cNvSpPr/>
              <p:nvPr/>
            </p:nvSpPr>
            <p:spPr>
              <a:xfrm flipV="1">
                <a:off x="2912" y="3216"/>
                <a:ext cx="1320" cy="464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8" name="Line 32"/>
              <p:cNvSpPr/>
              <p:nvPr/>
            </p:nvSpPr>
            <p:spPr>
              <a:xfrm>
                <a:off x="3352" y="3528"/>
                <a:ext cx="544" cy="632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636" name="Group 33"/>
            <p:cNvGrpSpPr/>
            <p:nvPr/>
          </p:nvGrpSpPr>
          <p:grpSpPr>
            <a:xfrm>
              <a:off x="3661" y="2945"/>
              <a:ext cx="1596" cy="661"/>
              <a:chOff x="2288" y="3289"/>
              <a:chExt cx="1596" cy="661"/>
            </a:xfrm>
          </p:grpSpPr>
          <p:sp>
            <p:nvSpPr>
              <p:cNvPr id="26637" name="Oval 34"/>
              <p:cNvSpPr/>
              <p:nvPr/>
            </p:nvSpPr>
            <p:spPr>
              <a:xfrm>
                <a:off x="2856" y="3352"/>
                <a:ext cx="64" cy="80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  <p:sp>
            <p:nvSpPr>
              <p:cNvPr id="26638" name="Text Box 35"/>
              <p:cNvSpPr txBox="1"/>
              <p:nvPr/>
            </p:nvSpPr>
            <p:spPr>
              <a:xfrm>
                <a:off x="2876" y="3289"/>
                <a:ext cx="231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1</a:t>
                </a:r>
                <a:endParaRPr lang="en-GB" altLang="zh-CN" sz="2000" baseline="-25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639" name="Oval 36"/>
              <p:cNvSpPr/>
              <p:nvPr/>
            </p:nvSpPr>
            <p:spPr>
              <a:xfrm>
                <a:off x="3624" y="3576"/>
                <a:ext cx="64" cy="80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  <p:sp>
            <p:nvSpPr>
              <p:cNvPr id="26640" name="Text Box 37"/>
              <p:cNvSpPr txBox="1"/>
              <p:nvPr/>
            </p:nvSpPr>
            <p:spPr>
              <a:xfrm>
                <a:off x="3635" y="3513"/>
                <a:ext cx="249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4</a:t>
                </a:r>
                <a:endParaRPr lang="en-GB" altLang="zh-CN" sz="2000" baseline="-25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641" name="Oval 38"/>
              <p:cNvSpPr/>
              <p:nvPr/>
            </p:nvSpPr>
            <p:spPr>
              <a:xfrm>
                <a:off x="2288" y="3720"/>
                <a:ext cx="64" cy="80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  <p:sp>
            <p:nvSpPr>
              <p:cNvPr id="26642" name="Text Box 39"/>
              <p:cNvSpPr txBox="1"/>
              <p:nvPr/>
            </p:nvSpPr>
            <p:spPr>
              <a:xfrm>
                <a:off x="2298" y="3657"/>
                <a:ext cx="250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2</a:t>
                </a:r>
                <a:endParaRPr lang="en-GB" altLang="zh-CN" sz="2000" baseline="-25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643" name="Oval 40"/>
              <p:cNvSpPr/>
              <p:nvPr/>
            </p:nvSpPr>
            <p:spPr>
              <a:xfrm>
                <a:off x="3080" y="3800"/>
                <a:ext cx="64" cy="80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  <p:sp>
            <p:nvSpPr>
              <p:cNvPr id="26644" name="Text Box 41"/>
              <p:cNvSpPr txBox="1"/>
              <p:nvPr/>
            </p:nvSpPr>
            <p:spPr>
              <a:xfrm>
                <a:off x="3108" y="3737"/>
                <a:ext cx="291" cy="21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3</a:t>
                </a:r>
                <a:endParaRPr lang="en-GB" altLang="zh-CN" sz="2000" baseline="-25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719138" y="476250"/>
            <a:ext cx="4197350" cy="762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400" dirty="0">
                <a:solidFill>
                  <a:schemeClr val="tx1"/>
                </a:solidFill>
              </a:rPr>
              <a:t>确定等价类的方法</a:t>
            </a:r>
            <a:endParaRPr lang="zh-CN" altLang="en-US" sz="3400" dirty="0">
              <a:solidFill>
                <a:schemeClr val="tx1"/>
              </a:solidFill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684213" y="1712913"/>
            <a:ext cx="8459787" cy="104298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在输入条件规定了取值范围或值的个数的情况下，则可以确立一个有效等价类和两个无效等价类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dirty="0">
              <a:latin typeface="宋体" panose="02010600030101010101" pitchFamily="2" charset="-122"/>
            </a:endParaRPr>
          </a:p>
        </p:txBody>
      </p:sp>
      <p:grpSp>
        <p:nvGrpSpPr>
          <p:cNvPr id="29700" name="Group 5"/>
          <p:cNvGrpSpPr/>
          <p:nvPr/>
        </p:nvGrpSpPr>
        <p:grpSpPr>
          <a:xfrm>
            <a:off x="1585913" y="3457575"/>
            <a:ext cx="6019800" cy="168275"/>
            <a:chOff x="912" y="1174"/>
            <a:chExt cx="3792" cy="106"/>
          </a:xfrm>
        </p:grpSpPr>
        <p:sp>
          <p:nvSpPr>
            <p:cNvPr id="29723" name="Line 6"/>
            <p:cNvSpPr/>
            <p:nvPr/>
          </p:nvSpPr>
          <p:spPr>
            <a:xfrm>
              <a:off x="912" y="1227"/>
              <a:ext cx="37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4" name="Rectangle 7" descr="Light upward diagonal"/>
            <p:cNvSpPr/>
            <p:nvPr/>
          </p:nvSpPr>
          <p:spPr>
            <a:xfrm>
              <a:off x="2112" y="1174"/>
              <a:ext cx="1392" cy="106"/>
            </a:xfrm>
            <a:prstGeom prst="rect">
              <a:avLst/>
            </a:prstGeom>
            <a:blipFill rotWithShape="0">
              <a:blip r:embed="rId1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/>
            </a:p>
          </p:txBody>
        </p:sp>
      </p:grpSp>
      <p:grpSp>
        <p:nvGrpSpPr>
          <p:cNvPr id="29701" name="Group 8"/>
          <p:cNvGrpSpPr/>
          <p:nvPr/>
        </p:nvGrpSpPr>
        <p:grpSpPr>
          <a:xfrm>
            <a:off x="3481388" y="3219450"/>
            <a:ext cx="2230437" cy="917575"/>
            <a:chOff x="2178" y="1024"/>
            <a:chExt cx="1405" cy="578"/>
          </a:xfrm>
        </p:grpSpPr>
        <p:sp>
          <p:nvSpPr>
            <p:cNvPr id="29721" name="Freeform 9"/>
            <p:cNvSpPr/>
            <p:nvPr/>
          </p:nvSpPr>
          <p:spPr>
            <a:xfrm>
              <a:off x="2178" y="1024"/>
              <a:ext cx="1405" cy="414"/>
            </a:xfrm>
            <a:custGeom>
              <a:avLst/>
              <a:gdLst/>
              <a:ahLst/>
              <a:cxnLst>
                <a:cxn ang="0">
                  <a:pos x="675" y="11"/>
                </a:cxn>
                <a:cxn ang="0">
                  <a:pos x="35" y="85"/>
                </a:cxn>
                <a:cxn ang="0">
                  <a:pos x="3" y="149"/>
                </a:cxn>
                <a:cxn ang="0">
                  <a:pos x="25" y="331"/>
                </a:cxn>
                <a:cxn ang="0">
                  <a:pos x="185" y="352"/>
                </a:cxn>
                <a:cxn ang="0">
                  <a:pos x="377" y="352"/>
                </a:cxn>
                <a:cxn ang="0">
                  <a:pos x="686" y="363"/>
                </a:cxn>
                <a:cxn ang="0">
                  <a:pos x="1027" y="384"/>
                </a:cxn>
                <a:cxn ang="0">
                  <a:pos x="1251" y="352"/>
                </a:cxn>
                <a:cxn ang="0">
                  <a:pos x="1315" y="331"/>
                </a:cxn>
                <a:cxn ang="0">
                  <a:pos x="1347" y="320"/>
                </a:cxn>
                <a:cxn ang="0">
                  <a:pos x="1401" y="235"/>
                </a:cxn>
                <a:cxn ang="0">
                  <a:pos x="1387" y="125"/>
                </a:cxn>
                <a:cxn ang="0">
                  <a:pos x="1305" y="85"/>
                </a:cxn>
                <a:cxn ang="0">
                  <a:pos x="1027" y="32"/>
                </a:cxn>
                <a:cxn ang="0">
                  <a:pos x="761" y="0"/>
                </a:cxn>
                <a:cxn ang="0">
                  <a:pos x="675" y="11"/>
                </a:cxn>
              </a:cxnLst>
              <a:rect l="0" t="0" r="0" b="0"/>
              <a:pathLst>
                <a:path w="1405" h="414">
                  <a:moveTo>
                    <a:pt x="675" y="11"/>
                  </a:moveTo>
                  <a:cubicBezTo>
                    <a:pt x="474" y="24"/>
                    <a:pt x="232" y="23"/>
                    <a:pt x="35" y="85"/>
                  </a:cubicBezTo>
                  <a:cubicBezTo>
                    <a:pt x="27" y="96"/>
                    <a:pt x="0" y="131"/>
                    <a:pt x="3" y="149"/>
                  </a:cubicBezTo>
                  <a:cubicBezTo>
                    <a:pt x="9" y="206"/>
                    <a:pt x="2" y="278"/>
                    <a:pt x="25" y="331"/>
                  </a:cubicBezTo>
                  <a:cubicBezTo>
                    <a:pt x="29" y="341"/>
                    <a:pt x="176" y="344"/>
                    <a:pt x="185" y="352"/>
                  </a:cubicBezTo>
                  <a:cubicBezTo>
                    <a:pt x="247" y="414"/>
                    <a:pt x="294" y="339"/>
                    <a:pt x="377" y="352"/>
                  </a:cubicBezTo>
                  <a:cubicBezTo>
                    <a:pt x="494" y="348"/>
                    <a:pt x="569" y="372"/>
                    <a:pt x="686" y="363"/>
                  </a:cubicBezTo>
                  <a:cubicBezTo>
                    <a:pt x="799" y="353"/>
                    <a:pt x="914" y="400"/>
                    <a:pt x="1027" y="384"/>
                  </a:cubicBezTo>
                  <a:cubicBezTo>
                    <a:pt x="1096" y="373"/>
                    <a:pt x="1183" y="374"/>
                    <a:pt x="1251" y="352"/>
                  </a:cubicBezTo>
                  <a:cubicBezTo>
                    <a:pt x="1272" y="345"/>
                    <a:pt x="1293" y="338"/>
                    <a:pt x="1315" y="331"/>
                  </a:cubicBezTo>
                  <a:cubicBezTo>
                    <a:pt x="1325" y="327"/>
                    <a:pt x="1347" y="320"/>
                    <a:pt x="1347" y="320"/>
                  </a:cubicBezTo>
                  <a:cubicBezTo>
                    <a:pt x="1374" y="293"/>
                    <a:pt x="1388" y="271"/>
                    <a:pt x="1401" y="235"/>
                  </a:cubicBezTo>
                  <a:cubicBezTo>
                    <a:pt x="1405" y="203"/>
                    <a:pt x="1402" y="149"/>
                    <a:pt x="1387" y="125"/>
                  </a:cubicBezTo>
                  <a:cubicBezTo>
                    <a:pt x="1371" y="100"/>
                    <a:pt x="1364" y="100"/>
                    <a:pt x="1305" y="85"/>
                  </a:cubicBezTo>
                  <a:cubicBezTo>
                    <a:pt x="1242" y="25"/>
                    <a:pt x="1096" y="36"/>
                    <a:pt x="1027" y="32"/>
                  </a:cubicBezTo>
                  <a:cubicBezTo>
                    <a:pt x="938" y="16"/>
                    <a:pt x="849" y="11"/>
                    <a:pt x="761" y="0"/>
                  </a:cubicBezTo>
                  <a:cubicBezTo>
                    <a:pt x="689" y="12"/>
                    <a:pt x="718" y="11"/>
                    <a:pt x="675" y="11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Text Box 10"/>
            <p:cNvSpPr txBox="1"/>
            <p:nvPr/>
          </p:nvSpPr>
          <p:spPr>
            <a:xfrm>
              <a:off x="2619" y="1390"/>
              <a:ext cx="614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/>
                <a:t>in range</a:t>
              </a:r>
              <a:endParaRPr lang="en-US" altLang="zh-CN" sz="1600" b="1" dirty="0"/>
            </a:p>
          </p:txBody>
        </p:sp>
      </p:grpSp>
      <p:grpSp>
        <p:nvGrpSpPr>
          <p:cNvPr id="29702" name="Group 11"/>
          <p:cNvGrpSpPr/>
          <p:nvPr/>
        </p:nvGrpSpPr>
        <p:grpSpPr>
          <a:xfrm>
            <a:off x="5697538" y="3117850"/>
            <a:ext cx="2227262" cy="1020763"/>
            <a:chOff x="3574" y="960"/>
            <a:chExt cx="1403" cy="643"/>
          </a:xfrm>
        </p:grpSpPr>
        <p:sp>
          <p:nvSpPr>
            <p:cNvPr id="29719" name="Freeform 12"/>
            <p:cNvSpPr/>
            <p:nvPr/>
          </p:nvSpPr>
          <p:spPr>
            <a:xfrm>
              <a:off x="3574" y="960"/>
              <a:ext cx="1403" cy="432"/>
            </a:xfrm>
            <a:custGeom>
              <a:avLst/>
              <a:gdLst/>
              <a:ahLst/>
              <a:cxnLst>
                <a:cxn ang="0">
                  <a:pos x="527" y="100"/>
                </a:cxn>
                <a:cxn ang="0">
                  <a:pos x="58" y="156"/>
                </a:cxn>
                <a:cxn ang="0">
                  <a:pos x="29" y="179"/>
                </a:cxn>
                <a:cxn ang="0">
                  <a:pos x="21" y="203"/>
                </a:cxn>
                <a:cxn ang="0">
                  <a:pos x="5" y="252"/>
                </a:cxn>
                <a:cxn ang="0">
                  <a:pos x="15" y="347"/>
                </a:cxn>
                <a:cxn ang="0">
                  <a:pos x="111" y="384"/>
                </a:cxn>
                <a:cxn ang="0">
                  <a:pos x="474" y="422"/>
                </a:cxn>
                <a:cxn ang="0">
                  <a:pos x="613" y="432"/>
                </a:cxn>
                <a:cxn ang="0">
                  <a:pos x="965" y="422"/>
                </a:cxn>
                <a:cxn ang="0">
                  <a:pos x="1093" y="394"/>
                </a:cxn>
                <a:cxn ang="0">
                  <a:pos x="1391" y="356"/>
                </a:cxn>
                <a:cxn ang="0">
                  <a:pos x="1402" y="290"/>
                </a:cxn>
                <a:cxn ang="0">
                  <a:pos x="687" y="100"/>
                </a:cxn>
                <a:cxn ang="0">
                  <a:pos x="527" y="100"/>
                </a:cxn>
              </a:cxnLst>
              <a:rect l="0" t="0" r="0" b="0"/>
              <a:pathLst>
                <a:path w="1403" h="432">
                  <a:moveTo>
                    <a:pt x="527" y="100"/>
                  </a:moveTo>
                  <a:cubicBezTo>
                    <a:pt x="497" y="100"/>
                    <a:pt x="114" y="80"/>
                    <a:pt x="58" y="156"/>
                  </a:cubicBezTo>
                  <a:cubicBezTo>
                    <a:pt x="54" y="169"/>
                    <a:pt x="35" y="166"/>
                    <a:pt x="29" y="179"/>
                  </a:cubicBezTo>
                  <a:cubicBezTo>
                    <a:pt x="25" y="187"/>
                    <a:pt x="24" y="191"/>
                    <a:pt x="21" y="203"/>
                  </a:cubicBezTo>
                  <a:cubicBezTo>
                    <a:pt x="17" y="214"/>
                    <a:pt x="6" y="228"/>
                    <a:pt x="5" y="252"/>
                  </a:cubicBezTo>
                  <a:cubicBezTo>
                    <a:pt x="8" y="283"/>
                    <a:pt x="0" y="317"/>
                    <a:pt x="15" y="347"/>
                  </a:cubicBezTo>
                  <a:cubicBezTo>
                    <a:pt x="26" y="368"/>
                    <a:pt x="86" y="380"/>
                    <a:pt x="111" y="384"/>
                  </a:cubicBezTo>
                  <a:cubicBezTo>
                    <a:pt x="236" y="404"/>
                    <a:pt x="343" y="414"/>
                    <a:pt x="474" y="422"/>
                  </a:cubicBezTo>
                  <a:cubicBezTo>
                    <a:pt x="520" y="425"/>
                    <a:pt x="566" y="428"/>
                    <a:pt x="613" y="432"/>
                  </a:cubicBezTo>
                  <a:cubicBezTo>
                    <a:pt x="730" y="428"/>
                    <a:pt x="847" y="428"/>
                    <a:pt x="965" y="422"/>
                  </a:cubicBezTo>
                  <a:cubicBezTo>
                    <a:pt x="1006" y="420"/>
                    <a:pt x="1051" y="398"/>
                    <a:pt x="1093" y="394"/>
                  </a:cubicBezTo>
                  <a:cubicBezTo>
                    <a:pt x="1193" y="382"/>
                    <a:pt x="1294" y="385"/>
                    <a:pt x="1391" y="356"/>
                  </a:cubicBezTo>
                  <a:cubicBezTo>
                    <a:pt x="1394" y="333"/>
                    <a:pt x="1403" y="311"/>
                    <a:pt x="1402" y="290"/>
                  </a:cubicBezTo>
                  <a:cubicBezTo>
                    <a:pt x="1382" y="0"/>
                    <a:pt x="831" y="101"/>
                    <a:pt x="687" y="100"/>
                  </a:cubicBezTo>
                  <a:cubicBezTo>
                    <a:pt x="623" y="81"/>
                    <a:pt x="593" y="72"/>
                    <a:pt x="527" y="100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Text Box 13"/>
            <p:cNvSpPr txBox="1"/>
            <p:nvPr/>
          </p:nvSpPr>
          <p:spPr>
            <a:xfrm>
              <a:off x="3702" y="1391"/>
              <a:ext cx="1240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/>
                <a:t>greater than range</a:t>
              </a:r>
              <a:endParaRPr lang="en-US" altLang="zh-CN" sz="1600" b="1" dirty="0"/>
            </a:p>
          </p:txBody>
        </p:sp>
      </p:grpSp>
      <p:grpSp>
        <p:nvGrpSpPr>
          <p:cNvPr id="29703" name="Group 14"/>
          <p:cNvGrpSpPr/>
          <p:nvPr/>
        </p:nvGrpSpPr>
        <p:grpSpPr>
          <a:xfrm>
            <a:off x="1322388" y="3246438"/>
            <a:ext cx="2163762" cy="892175"/>
            <a:chOff x="818" y="1041"/>
            <a:chExt cx="1363" cy="562"/>
          </a:xfrm>
        </p:grpSpPr>
        <p:sp>
          <p:nvSpPr>
            <p:cNvPr id="29717" name="Freeform 15"/>
            <p:cNvSpPr/>
            <p:nvPr/>
          </p:nvSpPr>
          <p:spPr>
            <a:xfrm>
              <a:off x="818" y="1041"/>
              <a:ext cx="1363" cy="351"/>
            </a:xfrm>
            <a:custGeom>
              <a:avLst/>
              <a:gdLst/>
              <a:ahLst/>
              <a:cxnLst>
                <a:cxn ang="0">
                  <a:pos x="1363" y="178"/>
                </a:cxn>
                <a:cxn ang="0">
                  <a:pos x="1347" y="103"/>
                </a:cxn>
                <a:cxn ang="0">
                  <a:pos x="1294" y="52"/>
                </a:cxn>
                <a:cxn ang="0">
                  <a:pos x="1033" y="20"/>
                </a:cxn>
                <a:cxn ang="0">
                  <a:pos x="222" y="30"/>
                </a:cxn>
                <a:cxn ang="0">
                  <a:pos x="83" y="122"/>
                </a:cxn>
                <a:cxn ang="0">
                  <a:pos x="467" y="333"/>
                </a:cxn>
                <a:cxn ang="0">
                  <a:pos x="873" y="342"/>
                </a:cxn>
                <a:cxn ang="0">
                  <a:pos x="1107" y="333"/>
                </a:cxn>
                <a:cxn ang="0">
                  <a:pos x="1113" y="332"/>
                </a:cxn>
                <a:cxn ang="0">
                  <a:pos x="1166" y="324"/>
                </a:cxn>
                <a:cxn ang="0">
                  <a:pos x="1251" y="314"/>
                </a:cxn>
                <a:cxn ang="0">
                  <a:pos x="1289" y="308"/>
                </a:cxn>
                <a:cxn ang="0">
                  <a:pos x="1342" y="266"/>
                </a:cxn>
                <a:cxn ang="0">
                  <a:pos x="1355" y="250"/>
                </a:cxn>
                <a:cxn ang="0">
                  <a:pos x="1363" y="178"/>
                </a:cxn>
              </a:cxnLst>
              <a:rect l="0" t="0" r="0" b="0"/>
              <a:pathLst>
                <a:path w="1363" h="351">
                  <a:moveTo>
                    <a:pt x="1363" y="178"/>
                  </a:moveTo>
                  <a:cubicBezTo>
                    <a:pt x="1360" y="153"/>
                    <a:pt x="1359" y="121"/>
                    <a:pt x="1347" y="103"/>
                  </a:cubicBezTo>
                  <a:cubicBezTo>
                    <a:pt x="1335" y="82"/>
                    <a:pt x="1346" y="65"/>
                    <a:pt x="1294" y="52"/>
                  </a:cubicBezTo>
                  <a:cubicBezTo>
                    <a:pt x="1242" y="0"/>
                    <a:pt x="1098" y="25"/>
                    <a:pt x="1033" y="20"/>
                  </a:cubicBezTo>
                  <a:cubicBezTo>
                    <a:pt x="762" y="23"/>
                    <a:pt x="492" y="20"/>
                    <a:pt x="222" y="30"/>
                  </a:cubicBezTo>
                  <a:cubicBezTo>
                    <a:pt x="198" y="30"/>
                    <a:pt x="128" y="108"/>
                    <a:pt x="83" y="122"/>
                  </a:cubicBezTo>
                  <a:cubicBezTo>
                    <a:pt x="0" y="301"/>
                    <a:pt x="331" y="328"/>
                    <a:pt x="467" y="333"/>
                  </a:cubicBezTo>
                  <a:cubicBezTo>
                    <a:pt x="602" y="337"/>
                    <a:pt x="737" y="339"/>
                    <a:pt x="873" y="342"/>
                  </a:cubicBezTo>
                  <a:cubicBezTo>
                    <a:pt x="956" y="349"/>
                    <a:pt x="1025" y="351"/>
                    <a:pt x="1107" y="333"/>
                  </a:cubicBezTo>
                  <a:cubicBezTo>
                    <a:pt x="1153" y="327"/>
                    <a:pt x="1103" y="333"/>
                    <a:pt x="1113" y="332"/>
                  </a:cubicBezTo>
                  <a:cubicBezTo>
                    <a:pt x="1122" y="330"/>
                    <a:pt x="1143" y="326"/>
                    <a:pt x="1166" y="324"/>
                  </a:cubicBezTo>
                  <a:cubicBezTo>
                    <a:pt x="1182" y="347"/>
                    <a:pt x="1229" y="326"/>
                    <a:pt x="1251" y="314"/>
                  </a:cubicBezTo>
                  <a:cubicBezTo>
                    <a:pt x="1261" y="307"/>
                    <a:pt x="1289" y="308"/>
                    <a:pt x="1289" y="308"/>
                  </a:cubicBezTo>
                  <a:cubicBezTo>
                    <a:pt x="1332" y="251"/>
                    <a:pt x="1283" y="296"/>
                    <a:pt x="1342" y="266"/>
                  </a:cubicBezTo>
                  <a:cubicBezTo>
                    <a:pt x="1352" y="254"/>
                    <a:pt x="1351" y="264"/>
                    <a:pt x="1355" y="250"/>
                  </a:cubicBezTo>
                  <a:cubicBezTo>
                    <a:pt x="1358" y="235"/>
                    <a:pt x="1361" y="193"/>
                    <a:pt x="1363" y="178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Text Box 16"/>
            <p:cNvSpPr txBox="1"/>
            <p:nvPr/>
          </p:nvSpPr>
          <p:spPr>
            <a:xfrm>
              <a:off x="961" y="1391"/>
              <a:ext cx="1055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/>
                <a:t>less than range</a:t>
              </a:r>
              <a:endParaRPr lang="en-US" altLang="zh-CN" sz="1600" b="1" dirty="0"/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1603375" y="4806950"/>
            <a:ext cx="6019800" cy="76200"/>
            <a:chOff x="984" y="2066"/>
            <a:chExt cx="3792" cy="48"/>
          </a:xfrm>
        </p:grpSpPr>
        <p:sp>
          <p:nvSpPr>
            <p:cNvPr id="29715" name="Line 18"/>
            <p:cNvSpPr/>
            <p:nvPr/>
          </p:nvSpPr>
          <p:spPr>
            <a:xfrm>
              <a:off x="984" y="2091"/>
              <a:ext cx="37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6" name="Oval 19"/>
            <p:cNvSpPr/>
            <p:nvPr/>
          </p:nvSpPr>
          <p:spPr>
            <a:xfrm>
              <a:off x="2856" y="2066"/>
              <a:ext cx="48" cy="48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/>
            </a:p>
          </p:txBody>
        </p:sp>
      </p:grpSp>
      <p:sp>
        <p:nvSpPr>
          <p:cNvPr id="1619988" name="Text Box 20"/>
          <p:cNvSpPr txBox="1"/>
          <p:nvPr/>
        </p:nvSpPr>
        <p:spPr>
          <a:xfrm>
            <a:off x="4264025" y="5106988"/>
            <a:ext cx="703263" cy="3365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1" dirty="0"/>
              <a:t>value</a:t>
            </a:r>
            <a:endParaRPr lang="en-US" altLang="zh-CN" sz="1600" b="1" dirty="0"/>
          </a:p>
        </p:txBody>
      </p:sp>
      <p:grpSp>
        <p:nvGrpSpPr>
          <p:cNvPr id="7" name="Group 21"/>
          <p:cNvGrpSpPr/>
          <p:nvPr/>
        </p:nvGrpSpPr>
        <p:grpSpPr>
          <a:xfrm>
            <a:off x="4638675" y="4422775"/>
            <a:ext cx="3376613" cy="1022350"/>
            <a:chOff x="2896" y="1824"/>
            <a:chExt cx="2127" cy="644"/>
          </a:xfrm>
        </p:grpSpPr>
        <p:sp>
          <p:nvSpPr>
            <p:cNvPr id="29713" name="Freeform 22"/>
            <p:cNvSpPr/>
            <p:nvPr/>
          </p:nvSpPr>
          <p:spPr>
            <a:xfrm>
              <a:off x="2896" y="1824"/>
              <a:ext cx="2127" cy="432"/>
            </a:xfrm>
            <a:custGeom>
              <a:avLst/>
              <a:gdLst/>
              <a:ahLst/>
              <a:cxnLst>
                <a:cxn ang="0">
                  <a:pos x="9697" y="100"/>
                </a:cxn>
                <a:cxn ang="0">
                  <a:pos x="1066" y="156"/>
                </a:cxn>
                <a:cxn ang="0">
                  <a:pos x="540" y="179"/>
                </a:cxn>
                <a:cxn ang="0">
                  <a:pos x="391" y="203"/>
                </a:cxn>
                <a:cxn ang="0">
                  <a:pos x="94" y="252"/>
                </a:cxn>
                <a:cxn ang="0">
                  <a:pos x="277" y="347"/>
                </a:cxn>
                <a:cxn ang="0">
                  <a:pos x="2045" y="384"/>
                </a:cxn>
                <a:cxn ang="0">
                  <a:pos x="8725" y="422"/>
                </a:cxn>
                <a:cxn ang="0">
                  <a:pos x="11278" y="432"/>
                </a:cxn>
                <a:cxn ang="0">
                  <a:pos x="17763" y="422"/>
                </a:cxn>
                <a:cxn ang="0">
                  <a:pos x="20115" y="394"/>
                </a:cxn>
                <a:cxn ang="0">
                  <a:pos x="25604" y="356"/>
                </a:cxn>
                <a:cxn ang="0">
                  <a:pos x="25806" y="290"/>
                </a:cxn>
                <a:cxn ang="0">
                  <a:pos x="12653" y="100"/>
                </a:cxn>
                <a:cxn ang="0">
                  <a:pos x="9697" y="100"/>
                </a:cxn>
              </a:cxnLst>
              <a:rect l="0" t="0" r="0" b="0"/>
              <a:pathLst>
                <a:path w="1403" h="432">
                  <a:moveTo>
                    <a:pt x="527" y="100"/>
                  </a:moveTo>
                  <a:cubicBezTo>
                    <a:pt x="497" y="100"/>
                    <a:pt x="114" y="80"/>
                    <a:pt x="58" y="156"/>
                  </a:cubicBezTo>
                  <a:cubicBezTo>
                    <a:pt x="54" y="169"/>
                    <a:pt x="35" y="166"/>
                    <a:pt x="29" y="179"/>
                  </a:cubicBezTo>
                  <a:cubicBezTo>
                    <a:pt x="25" y="187"/>
                    <a:pt x="24" y="191"/>
                    <a:pt x="21" y="203"/>
                  </a:cubicBezTo>
                  <a:cubicBezTo>
                    <a:pt x="17" y="214"/>
                    <a:pt x="6" y="228"/>
                    <a:pt x="5" y="252"/>
                  </a:cubicBezTo>
                  <a:cubicBezTo>
                    <a:pt x="8" y="283"/>
                    <a:pt x="0" y="317"/>
                    <a:pt x="15" y="347"/>
                  </a:cubicBezTo>
                  <a:cubicBezTo>
                    <a:pt x="26" y="368"/>
                    <a:pt x="86" y="380"/>
                    <a:pt x="111" y="384"/>
                  </a:cubicBezTo>
                  <a:cubicBezTo>
                    <a:pt x="236" y="404"/>
                    <a:pt x="343" y="414"/>
                    <a:pt x="474" y="422"/>
                  </a:cubicBezTo>
                  <a:cubicBezTo>
                    <a:pt x="520" y="425"/>
                    <a:pt x="566" y="428"/>
                    <a:pt x="613" y="432"/>
                  </a:cubicBezTo>
                  <a:cubicBezTo>
                    <a:pt x="730" y="428"/>
                    <a:pt x="847" y="428"/>
                    <a:pt x="965" y="422"/>
                  </a:cubicBezTo>
                  <a:cubicBezTo>
                    <a:pt x="1006" y="420"/>
                    <a:pt x="1051" y="398"/>
                    <a:pt x="1093" y="394"/>
                  </a:cubicBezTo>
                  <a:cubicBezTo>
                    <a:pt x="1193" y="382"/>
                    <a:pt x="1294" y="385"/>
                    <a:pt x="1391" y="356"/>
                  </a:cubicBezTo>
                  <a:cubicBezTo>
                    <a:pt x="1394" y="333"/>
                    <a:pt x="1403" y="311"/>
                    <a:pt x="1402" y="290"/>
                  </a:cubicBezTo>
                  <a:cubicBezTo>
                    <a:pt x="1382" y="0"/>
                    <a:pt x="831" y="101"/>
                    <a:pt x="687" y="100"/>
                  </a:cubicBezTo>
                  <a:cubicBezTo>
                    <a:pt x="623" y="81"/>
                    <a:pt x="593" y="72"/>
                    <a:pt x="527" y="100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Text Box 23"/>
            <p:cNvSpPr txBox="1"/>
            <p:nvPr/>
          </p:nvSpPr>
          <p:spPr>
            <a:xfrm>
              <a:off x="3421" y="2256"/>
              <a:ext cx="1219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/>
                <a:t>greater than value</a:t>
              </a:r>
              <a:endParaRPr lang="en-US" altLang="zh-CN" sz="1600" b="1" dirty="0"/>
            </a:p>
          </p:txBody>
        </p:sp>
      </p:grpSp>
      <p:grpSp>
        <p:nvGrpSpPr>
          <p:cNvPr id="8" name="Group 24"/>
          <p:cNvGrpSpPr/>
          <p:nvPr/>
        </p:nvGrpSpPr>
        <p:grpSpPr>
          <a:xfrm>
            <a:off x="1031875" y="4551363"/>
            <a:ext cx="3548063" cy="893762"/>
            <a:chOff x="624" y="1905"/>
            <a:chExt cx="2235" cy="563"/>
          </a:xfrm>
        </p:grpSpPr>
        <p:sp>
          <p:nvSpPr>
            <p:cNvPr id="29711" name="Freeform 25"/>
            <p:cNvSpPr/>
            <p:nvPr/>
          </p:nvSpPr>
          <p:spPr>
            <a:xfrm>
              <a:off x="624" y="1905"/>
              <a:ext cx="2235" cy="351"/>
            </a:xfrm>
            <a:custGeom>
              <a:avLst/>
              <a:gdLst/>
              <a:ahLst/>
              <a:cxnLst>
                <a:cxn ang="0">
                  <a:pos x="43452" y="178"/>
                </a:cxn>
                <a:cxn ang="0">
                  <a:pos x="42941" y="103"/>
                </a:cxn>
                <a:cxn ang="0">
                  <a:pos x="41255" y="52"/>
                </a:cxn>
                <a:cxn ang="0">
                  <a:pos x="32930" y="20"/>
                </a:cxn>
                <a:cxn ang="0">
                  <a:pos x="7077" y="30"/>
                </a:cxn>
                <a:cxn ang="0">
                  <a:pos x="2647" y="122"/>
                </a:cxn>
                <a:cxn ang="0">
                  <a:pos x="14894" y="333"/>
                </a:cxn>
                <a:cxn ang="0">
                  <a:pos x="27835" y="342"/>
                </a:cxn>
                <a:cxn ang="0">
                  <a:pos x="35280" y="333"/>
                </a:cxn>
                <a:cxn ang="0">
                  <a:pos x="35485" y="332"/>
                </a:cxn>
                <a:cxn ang="0">
                  <a:pos x="37167" y="324"/>
                </a:cxn>
                <a:cxn ang="0">
                  <a:pos x="39869" y="314"/>
                </a:cxn>
                <a:cxn ang="0">
                  <a:pos x="41088" y="308"/>
                </a:cxn>
                <a:cxn ang="0">
                  <a:pos x="42785" y="266"/>
                </a:cxn>
                <a:cxn ang="0">
                  <a:pos x="43198" y="250"/>
                </a:cxn>
                <a:cxn ang="0">
                  <a:pos x="43452" y="178"/>
                </a:cxn>
              </a:cxnLst>
              <a:rect l="0" t="0" r="0" b="0"/>
              <a:pathLst>
                <a:path w="1363" h="351">
                  <a:moveTo>
                    <a:pt x="1363" y="178"/>
                  </a:moveTo>
                  <a:cubicBezTo>
                    <a:pt x="1360" y="153"/>
                    <a:pt x="1359" y="121"/>
                    <a:pt x="1347" y="103"/>
                  </a:cubicBezTo>
                  <a:cubicBezTo>
                    <a:pt x="1335" y="82"/>
                    <a:pt x="1346" y="65"/>
                    <a:pt x="1294" y="52"/>
                  </a:cubicBezTo>
                  <a:cubicBezTo>
                    <a:pt x="1242" y="0"/>
                    <a:pt x="1098" y="25"/>
                    <a:pt x="1033" y="20"/>
                  </a:cubicBezTo>
                  <a:cubicBezTo>
                    <a:pt x="762" y="23"/>
                    <a:pt x="492" y="20"/>
                    <a:pt x="222" y="30"/>
                  </a:cubicBezTo>
                  <a:cubicBezTo>
                    <a:pt x="198" y="30"/>
                    <a:pt x="128" y="108"/>
                    <a:pt x="83" y="122"/>
                  </a:cubicBezTo>
                  <a:cubicBezTo>
                    <a:pt x="0" y="301"/>
                    <a:pt x="331" y="328"/>
                    <a:pt x="467" y="333"/>
                  </a:cubicBezTo>
                  <a:cubicBezTo>
                    <a:pt x="602" y="337"/>
                    <a:pt x="737" y="339"/>
                    <a:pt x="873" y="342"/>
                  </a:cubicBezTo>
                  <a:cubicBezTo>
                    <a:pt x="956" y="349"/>
                    <a:pt x="1025" y="351"/>
                    <a:pt x="1107" y="333"/>
                  </a:cubicBezTo>
                  <a:cubicBezTo>
                    <a:pt x="1153" y="327"/>
                    <a:pt x="1103" y="333"/>
                    <a:pt x="1113" y="332"/>
                  </a:cubicBezTo>
                  <a:cubicBezTo>
                    <a:pt x="1122" y="330"/>
                    <a:pt x="1143" y="326"/>
                    <a:pt x="1166" y="324"/>
                  </a:cubicBezTo>
                  <a:cubicBezTo>
                    <a:pt x="1182" y="347"/>
                    <a:pt x="1229" y="326"/>
                    <a:pt x="1251" y="314"/>
                  </a:cubicBezTo>
                  <a:cubicBezTo>
                    <a:pt x="1261" y="307"/>
                    <a:pt x="1289" y="308"/>
                    <a:pt x="1289" y="308"/>
                  </a:cubicBezTo>
                  <a:cubicBezTo>
                    <a:pt x="1332" y="251"/>
                    <a:pt x="1283" y="296"/>
                    <a:pt x="1342" y="266"/>
                  </a:cubicBezTo>
                  <a:cubicBezTo>
                    <a:pt x="1352" y="254"/>
                    <a:pt x="1351" y="264"/>
                    <a:pt x="1355" y="250"/>
                  </a:cubicBezTo>
                  <a:cubicBezTo>
                    <a:pt x="1358" y="235"/>
                    <a:pt x="1361" y="193"/>
                    <a:pt x="1363" y="178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Text Box 26"/>
            <p:cNvSpPr txBox="1"/>
            <p:nvPr/>
          </p:nvSpPr>
          <p:spPr>
            <a:xfrm>
              <a:off x="1316" y="2256"/>
              <a:ext cx="1034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/>
                <a:t>less than value</a:t>
              </a:r>
              <a:endParaRPr lang="en-US" altLang="zh-CN" sz="1600" b="1" dirty="0"/>
            </a:p>
          </p:txBody>
        </p:sp>
      </p:grp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61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99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066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某在线考试系统规定，考生的准考证号格式为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10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位数字，且必须在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2023000001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至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2023999999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之间。若准考证号小于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2023000001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，系统将提示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“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准考证号不存在！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”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；若准考证号大于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2023999999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，系统将提示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“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准考证号无效！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”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。请使用</a:t>
            </a:r>
            <a:r>
              <a:rPr lang="en-US" altLang="zh-CN" sz="2000" dirty="0" smtClean="0">
                <a:latin typeface="Arial" panose="020B0604020202020204" pitchFamily="34" charset="0"/>
                <a:sym typeface="黑体" panose="02010609060101010101" pitchFamily="49" charset="-122"/>
              </a:rPr>
              <a:t>​​</a:t>
            </a:r>
            <a:r>
              <a:rPr lang="zh-CN" altLang="en-US" sz="2000" dirty="0" smtClean="0">
                <a:latin typeface="Arial" panose="020B0604020202020204" pitchFamily="34" charset="0"/>
                <a:sym typeface="黑体" panose="02010609060101010101" pitchFamily="49" charset="-122"/>
              </a:rPr>
              <a:t>等价类划分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法</a:t>
            </a:r>
            <a:r>
              <a:rPr lang="en-US" altLang="zh-CN" sz="2000" dirty="0" smtClean="0">
                <a:latin typeface="Arial" panose="020B0604020202020204" pitchFamily="34" charset="0"/>
                <a:sym typeface="黑体" panose="02010609060101010101" pitchFamily="49" charset="-122"/>
              </a:rPr>
              <a:t>​​</a:t>
            </a:r>
            <a:r>
              <a:rPr lang="zh-CN" altLang="en-US" sz="2000" dirty="0" smtClean="0">
                <a:latin typeface="Arial" panose="020B0604020202020204" pitchFamily="34" charset="0"/>
                <a:sym typeface="黑体" panose="02010609060101010101" pitchFamily="49" charset="-122"/>
              </a:rPr>
              <a:t>为此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验证功能设计测试用例。（准考证号为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10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位数字字符）</a:t>
            </a:r>
            <a:endParaRPr lang="zh-CN" altLang="en-US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1</a:t>
            </a:r>
            <a:endParaRPr lang="zh-CN" altLang="en-US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601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第一步：划分等价类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​​</a:t>
            </a:r>
            <a:endParaRPr lang="en-US" altLang="zh-CN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可划分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个有效等价类和若干个无效等价类。</a:t>
            </a:r>
            <a:endParaRPr lang="zh-CN" altLang="en-US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40080" y="2644140"/>
          <a:ext cx="7863840" cy="371094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61849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输入数据（或输入条件）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有效等价分类</a:t>
                      </a:r>
                      <a:endParaRPr lang="zh-CN" altLang="en-US" sz="1600" b="1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无效等价分类</a:t>
                      </a:r>
                      <a:endParaRPr lang="zh-CN" altLang="en-US" sz="1600" b="1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8490">
                <a:tc rowSpan="3"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准考证号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r>
                        <a:rPr lang="zh-CN" altLang="en-US" sz="16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位有效数字字符 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(1)</a:t>
                      </a:r>
                      <a:endParaRPr lang="en-US" altLang="zh-CN" sz="16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有非数字字符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(5)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8490"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位数小于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 (6)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8490"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位数大于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 (7)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8490">
                <a:tc rowSpan="2"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数值范围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2023000001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2023999999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之间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(2)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 2023000001 (8)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8490"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 2023999999 (9)</a:t>
                      </a:r>
                      <a:endParaRPr lang="en-US" altLang="zh-CN" sz="16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1</a:t>
            </a:r>
            <a:endParaRPr lang="zh-CN" altLang="en-US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601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第二步：为有效等价类设计测试用例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​​</a:t>
            </a:r>
            <a:endParaRPr lang="en-US" altLang="zh-CN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为验证功能有效等价类设计测试用例。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Test Case 1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测试用例就可以覆盖编号为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(1)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(2)</a:t>
            </a: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的有效等价类。</a:t>
            </a:r>
            <a:endParaRPr lang="zh-CN" altLang="en-US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0080" y="3465195"/>
          <a:ext cx="7863840" cy="14732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73660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测试用例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输入数据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预期输出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测试范围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1​​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​​2023500000​​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​​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验证通过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​​(1), (2)​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1</a:t>
            </a:r>
            <a:endParaRPr lang="zh-CN" altLang="en-US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601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第三步：为无效等价类设计测试用例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​​</a:t>
            </a:r>
            <a:endParaRPr lang="en-US" altLang="zh-CN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  <a:sym typeface="黑体" panose="02010609060101010101" pitchFamily="49" charset="-122"/>
              </a:rPr>
              <a:t>为验证功能无效等价类设计测试用例。</a:t>
            </a:r>
            <a:endParaRPr lang="zh-CN" altLang="en-US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40080" y="2580005"/>
          <a:ext cx="7863840" cy="4106545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621665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测试用例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输入数据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预期输出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测试范围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1​​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20235a0000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输入错误提示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2​​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202350000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输入错误提示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995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3​​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20235000000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输入错误提示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897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4​​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2022999999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准考证号不存在！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​​Test Case 5​​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2024000000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准考证号无效！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114617" marT="95567" marB="9556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zh-CN" altLang="en-US"/>
              <a:t>白盒测试</a:t>
            </a:r>
            <a:r>
              <a:rPr lang="en-US" altLang="zh-CN"/>
              <a:t>-</a:t>
            </a:r>
            <a:r>
              <a:rPr lang="zh-CN" altLang="en-US"/>
              <a:t>条件组合覆盖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20750" y="581025"/>
            <a:ext cx="7170738" cy="533400"/>
          </a:xfrm>
        </p:spPr>
        <p:txBody>
          <a:bodyPr vert="horz" wrap="square" lIns="0" tIns="0" rIns="0" bIns="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6.6</a:t>
            </a:r>
            <a:r>
              <a:rPr kumimoji="0" lang="en-US" altLang="zh-CN" sz="4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j-cs"/>
              </a:rPr>
              <a:t> </a:t>
            </a:r>
            <a:r>
              <a:rPr kumimoji="0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条件组合测试</a:t>
            </a:r>
            <a:endParaRPr kumimoji="0" lang="zh-CN" altLang="en-US" sz="40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87" name="Rectangle 3"/>
          <p:cNvSpPr/>
          <p:nvPr/>
        </p:nvSpPr>
        <p:spPr>
          <a:xfrm>
            <a:off x="774700" y="1931988"/>
            <a:ext cx="7620000" cy="336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55600" lvl="0" indent="-355600">
              <a:spcBef>
                <a:spcPct val="0"/>
              </a:spcBef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u="sng" dirty="0"/>
              <a:t>条件组合覆盖的基本思想是设计足够的测试用例，使得判断中</a:t>
            </a:r>
            <a:r>
              <a:rPr lang="zh-CN" altLang="en-US" sz="2400" u="sng" dirty="0">
                <a:solidFill>
                  <a:srgbClr val="FF0000"/>
                </a:solidFill>
              </a:rPr>
              <a:t>每个条件的所有可能至少出现一次</a:t>
            </a:r>
            <a:r>
              <a:rPr lang="zh-CN" altLang="en-US" sz="2400" u="sng" dirty="0"/>
              <a:t>，并且每个判断本身的判定结果也至少出现一次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812800" lvl="1" indent="-355600">
              <a:spcBef>
                <a:spcPct val="0"/>
              </a:spcBef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225" dirty="0">
                <a:solidFill>
                  <a:srgbClr val="FF0000"/>
                </a:solidFill>
              </a:rPr>
              <a:t>每个判定中所有条件取值的所有可能组合至少出现一次</a:t>
            </a:r>
            <a:endParaRPr lang="zh-CN" altLang="en-US" sz="2225" dirty="0">
              <a:solidFill>
                <a:srgbClr val="FF0000"/>
              </a:solidFill>
            </a:endParaRPr>
          </a:p>
          <a:p>
            <a:pPr marL="355600" lvl="0" indent="-355600">
              <a:spcBef>
                <a:spcPct val="0"/>
              </a:spcBef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</a:pPr>
            <a:endParaRPr lang="en-US" altLang="zh-CN" sz="2400" dirty="0"/>
          </a:p>
          <a:p>
            <a:pPr marL="355600" lvl="0" indent="-355600">
              <a:spcBef>
                <a:spcPct val="0"/>
              </a:spcBef>
              <a:buClr>
                <a:srgbClr val="91AC4E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/>
              <a:t>它与条件覆盖的差别是它不是简单地要求每个条件都出现“真”与“假”两种结果，而是要求让这些结果的</a:t>
            </a:r>
            <a:r>
              <a:rPr lang="zh-CN" altLang="en-US" sz="2400" b="1" dirty="0">
                <a:solidFill>
                  <a:srgbClr val="FF0000"/>
                </a:solidFill>
              </a:rPr>
              <a:t>所有可能组合都至少出现一次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itle 1"/>
          <p:cNvSpPr>
            <a:spLocks noGrp="1"/>
          </p:cNvSpPr>
          <p:nvPr>
            <p:ph type="title"/>
          </p:nvPr>
        </p:nvSpPr>
        <p:spPr>
          <a:xfrm>
            <a:off x="762100" y="150935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4000" b="1" i="1" dirty="0">
                <a:solidFill>
                  <a:schemeClr val="hlink"/>
                </a:solidFill>
              </a:rPr>
              <a:t>示例 </a:t>
            </a:r>
            <a:r>
              <a:rPr lang="en-US" altLang="zh-CN" sz="2800" b="1" i="1" dirty="0">
                <a:solidFill>
                  <a:schemeClr val="hlink"/>
                </a:solidFill>
              </a:rPr>
              <a:t>(1)</a:t>
            </a:r>
            <a:br>
              <a:rPr lang="en-US" altLang="zh-CN" sz="2800" b="1" i="1" dirty="0">
                <a:solidFill>
                  <a:schemeClr val="hlink"/>
                </a:solidFill>
              </a:rPr>
            </a:br>
            <a:r>
              <a:rPr lang="zh-CN" altLang="en-US" sz="2800" b="1" i="1" dirty="0">
                <a:solidFill>
                  <a:schemeClr val="hlink"/>
                </a:solidFill>
              </a:rPr>
              <a:t>根据代码实现：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条件组合测试</a:t>
            </a:r>
            <a:endParaRPr lang="zh-CN" altLang="en-US" sz="2800" b="1" i="1" dirty="0">
              <a:solidFill>
                <a:schemeClr val="hlink"/>
              </a:solidFill>
            </a:endParaRPr>
          </a:p>
        </p:txBody>
      </p:sp>
      <p:grpSp>
        <p:nvGrpSpPr>
          <p:cNvPr id="69688" name="Group 63"/>
          <p:cNvGrpSpPr/>
          <p:nvPr/>
        </p:nvGrpSpPr>
        <p:grpSpPr>
          <a:xfrm>
            <a:off x="2505969" y="2362228"/>
            <a:ext cx="4284662" cy="3600450"/>
            <a:chOff x="3152" y="1139"/>
            <a:chExt cx="2699" cy="2858"/>
          </a:xfrm>
        </p:grpSpPr>
        <p:grpSp>
          <p:nvGrpSpPr>
            <p:cNvPr id="69691" name="Group 32"/>
            <p:cNvGrpSpPr/>
            <p:nvPr/>
          </p:nvGrpSpPr>
          <p:grpSpPr>
            <a:xfrm>
              <a:off x="3152" y="1139"/>
              <a:ext cx="2699" cy="2858"/>
              <a:chOff x="2653" y="754"/>
              <a:chExt cx="3016" cy="2880"/>
            </a:xfrm>
          </p:grpSpPr>
          <p:sp>
            <p:nvSpPr>
              <p:cNvPr id="69706" name="AutoShape 33"/>
              <p:cNvSpPr/>
              <p:nvPr/>
            </p:nvSpPr>
            <p:spPr>
              <a:xfrm>
                <a:off x="2653" y="1366"/>
                <a:ext cx="1655" cy="476"/>
              </a:xfrm>
              <a:prstGeom prst="flowChartDecision">
                <a:avLst/>
              </a:prstGeom>
              <a:solidFill>
                <a:srgbClr val="FFCC00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 dirty="0"/>
                  <a:t>m &gt; 1 and n &gt; 0</a:t>
                </a:r>
                <a:endParaRPr lang="en-US" altLang="zh-CN" sz="1400" b="1" dirty="0"/>
              </a:p>
            </p:txBody>
          </p:sp>
          <p:sp>
            <p:nvSpPr>
              <p:cNvPr id="69707" name="AutoShape 34"/>
              <p:cNvSpPr/>
              <p:nvPr/>
            </p:nvSpPr>
            <p:spPr>
              <a:xfrm>
                <a:off x="2676" y="2273"/>
                <a:ext cx="1610" cy="499"/>
              </a:xfrm>
              <a:prstGeom prst="flowChartDecision">
                <a:avLst/>
              </a:prstGeom>
              <a:solidFill>
                <a:srgbClr val="FFCC00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 dirty="0"/>
                  <a:t>m &gt; 3 or x &gt; 1</a:t>
                </a:r>
                <a:endParaRPr lang="en-US" altLang="zh-CN" sz="1600" b="1" dirty="0"/>
              </a:p>
            </p:txBody>
          </p:sp>
          <p:sp>
            <p:nvSpPr>
              <p:cNvPr id="69708" name="AutoShape 35"/>
              <p:cNvSpPr/>
              <p:nvPr/>
            </p:nvSpPr>
            <p:spPr>
              <a:xfrm>
                <a:off x="4603" y="1434"/>
                <a:ext cx="1066" cy="341"/>
              </a:xfrm>
              <a:prstGeom prst="flowChartProcess">
                <a:avLst/>
              </a:prstGeom>
              <a:solidFill>
                <a:srgbClr val="66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/>
                  <a:t>x = x / m</a:t>
                </a:r>
                <a:endParaRPr lang="en-US" altLang="zh-CN" sz="2000" b="1" dirty="0"/>
              </a:p>
            </p:txBody>
          </p:sp>
          <p:sp>
            <p:nvSpPr>
              <p:cNvPr id="69709" name="AutoShape 36"/>
              <p:cNvSpPr/>
              <p:nvPr/>
            </p:nvSpPr>
            <p:spPr>
              <a:xfrm>
                <a:off x="4603" y="2341"/>
                <a:ext cx="1066" cy="363"/>
              </a:xfrm>
              <a:prstGeom prst="flowChartProcess">
                <a:avLst/>
              </a:prstGeom>
              <a:solidFill>
                <a:srgbClr val="66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/>
                  <a:t>x = x + 1</a:t>
                </a:r>
                <a:endParaRPr lang="en-US" altLang="zh-CN" sz="2000" b="1" dirty="0"/>
              </a:p>
            </p:txBody>
          </p:sp>
          <p:sp>
            <p:nvSpPr>
              <p:cNvPr id="69710" name="AutoShape 37"/>
              <p:cNvSpPr/>
              <p:nvPr/>
            </p:nvSpPr>
            <p:spPr>
              <a:xfrm>
                <a:off x="2970" y="3271"/>
                <a:ext cx="1066" cy="363"/>
              </a:xfrm>
              <a:prstGeom prst="flowChartProcess">
                <a:avLst/>
              </a:prstGeom>
              <a:solidFill>
                <a:srgbClr val="66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/>
                  <a:t>x = n + x</a:t>
                </a:r>
                <a:endParaRPr lang="en-US" altLang="zh-CN" sz="2000" b="1" dirty="0"/>
              </a:p>
            </p:txBody>
          </p:sp>
          <p:sp>
            <p:nvSpPr>
              <p:cNvPr id="69711" name="Line 38"/>
              <p:cNvSpPr/>
              <p:nvPr/>
            </p:nvSpPr>
            <p:spPr>
              <a:xfrm>
                <a:off x="3469" y="754"/>
                <a:ext cx="0" cy="589"/>
              </a:xfrm>
              <a:prstGeom prst="line">
                <a:avLst/>
              </a:prstGeom>
              <a:ln w="38100" cap="flat" cmpd="sng">
                <a:solidFill>
                  <a:srgbClr val="000080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69712" name="Line 39"/>
              <p:cNvSpPr/>
              <p:nvPr/>
            </p:nvSpPr>
            <p:spPr>
              <a:xfrm>
                <a:off x="3492" y="1842"/>
                <a:ext cx="0" cy="454"/>
              </a:xfrm>
              <a:prstGeom prst="line">
                <a:avLst/>
              </a:prstGeom>
              <a:ln w="38100" cap="flat" cmpd="sng">
                <a:solidFill>
                  <a:srgbClr val="000080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69713" name="Line 40"/>
              <p:cNvSpPr/>
              <p:nvPr/>
            </p:nvSpPr>
            <p:spPr>
              <a:xfrm>
                <a:off x="3492" y="2772"/>
                <a:ext cx="0" cy="477"/>
              </a:xfrm>
              <a:prstGeom prst="line">
                <a:avLst/>
              </a:prstGeom>
              <a:ln w="38100" cap="flat" cmpd="sng">
                <a:solidFill>
                  <a:srgbClr val="000080"/>
                </a:solidFill>
                <a:prstDash val="solid"/>
                <a:headEnd type="none" w="med" len="med"/>
                <a:tailEnd type="triangle" w="lg" len="med"/>
              </a:ln>
            </p:spPr>
          </p:sp>
          <p:cxnSp>
            <p:nvCxnSpPr>
              <p:cNvPr id="69714" name="AutoShape 41"/>
              <p:cNvCxnSpPr/>
              <p:nvPr/>
            </p:nvCxnSpPr>
            <p:spPr>
              <a:xfrm>
                <a:off x="4309" y="1614"/>
                <a:ext cx="286" cy="2"/>
              </a:xfrm>
              <a:prstGeom prst="straightConnector1">
                <a:avLst/>
              </a:prstGeom>
              <a:ln w="38100" cap="flat" cmpd="sng">
                <a:solidFill>
                  <a:srgbClr val="000080"/>
                </a:solidFill>
                <a:prstDash val="solid"/>
                <a:headEnd type="none" w="med" len="med"/>
                <a:tailEnd type="triangle" w="lg" len="med"/>
              </a:ln>
            </p:spPr>
          </p:cxnSp>
          <p:cxnSp>
            <p:nvCxnSpPr>
              <p:cNvPr id="69715" name="AutoShape 42"/>
              <p:cNvCxnSpPr>
                <a:stCxn id="69707" idx="3"/>
                <a:endCxn id="69709" idx="1"/>
              </p:cNvCxnSpPr>
              <p:nvPr/>
            </p:nvCxnSpPr>
            <p:spPr>
              <a:xfrm>
                <a:off x="4294" y="2523"/>
                <a:ext cx="301" cy="0"/>
              </a:xfrm>
              <a:prstGeom prst="straightConnector1">
                <a:avLst/>
              </a:prstGeom>
              <a:ln w="38100" cap="flat" cmpd="sng">
                <a:solidFill>
                  <a:srgbClr val="000080"/>
                </a:solidFill>
                <a:prstDash val="solid"/>
                <a:headEnd type="none" w="med" len="med"/>
                <a:tailEnd type="triangle" w="lg" len="med"/>
              </a:ln>
            </p:spPr>
          </p:cxnSp>
          <p:grpSp>
            <p:nvGrpSpPr>
              <p:cNvPr id="69716" name="Group 43"/>
              <p:cNvGrpSpPr/>
              <p:nvPr/>
            </p:nvGrpSpPr>
            <p:grpSpPr>
              <a:xfrm>
                <a:off x="3492" y="1774"/>
                <a:ext cx="1678" cy="273"/>
                <a:chOff x="3583" y="1774"/>
                <a:chExt cx="1678" cy="273"/>
              </a:xfrm>
            </p:grpSpPr>
            <p:sp>
              <p:nvSpPr>
                <p:cNvPr id="69720" name="Line 44"/>
                <p:cNvSpPr/>
                <p:nvPr/>
              </p:nvSpPr>
              <p:spPr>
                <a:xfrm>
                  <a:off x="5261" y="1774"/>
                  <a:ext cx="0" cy="273"/>
                </a:xfrm>
                <a:prstGeom prst="line">
                  <a:avLst/>
                </a:prstGeom>
                <a:ln w="38100" cap="flat" cmpd="sng">
                  <a:solidFill>
                    <a:srgbClr val="000080"/>
                  </a:solidFill>
                  <a:prstDash val="solid"/>
                  <a:headEnd type="none" w="med" len="med"/>
                  <a:tailEnd type="none" w="lg" len="med"/>
                </a:ln>
              </p:spPr>
            </p:sp>
            <p:sp>
              <p:nvSpPr>
                <p:cNvPr id="69721" name="Line 45"/>
                <p:cNvSpPr/>
                <p:nvPr/>
              </p:nvSpPr>
              <p:spPr>
                <a:xfrm flipH="1">
                  <a:off x="3583" y="2047"/>
                  <a:ext cx="1678" cy="0"/>
                </a:xfrm>
                <a:prstGeom prst="line">
                  <a:avLst/>
                </a:prstGeom>
                <a:ln w="38100" cap="flat" cmpd="sng">
                  <a:solidFill>
                    <a:srgbClr val="000080"/>
                  </a:solidFill>
                  <a:prstDash val="solid"/>
                  <a:headEnd type="none" w="med" len="med"/>
                  <a:tailEnd type="triangle" w="lg" len="med"/>
                </a:ln>
              </p:spPr>
            </p:sp>
          </p:grpSp>
          <p:grpSp>
            <p:nvGrpSpPr>
              <p:cNvPr id="69717" name="Group 46"/>
              <p:cNvGrpSpPr/>
              <p:nvPr/>
            </p:nvGrpSpPr>
            <p:grpSpPr>
              <a:xfrm>
                <a:off x="3492" y="2704"/>
                <a:ext cx="1678" cy="295"/>
                <a:chOff x="3583" y="2704"/>
                <a:chExt cx="1678" cy="295"/>
              </a:xfrm>
            </p:grpSpPr>
            <p:sp>
              <p:nvSpPr>
                <p:cNvPr id="69718" name="Line 47"/>
                <p:cNvSpPr/>
                <p:nvPr/>
              </p:nvSpPr>
              <p:spPr>
                <a:xfrm>
                  <a:off x="5261" y="2704"/>
                  <a:ext cx="0" cy="295"/>
                </a:xfrm>
                <a:prstGeom prst="line">
                  <a:avLst/>
                </a:prstGeom>
                <a:ln w="38100" cap="flat" cmpd="sng">
                  <a:solidFill>
                    <a:srgbClr val="000080"/>
                  </a:solidFill>
                  <a:prstDash val="solid"/>
                  <a:headEnd type="none" w="med" len="med"/>
                  <a:tailEnd type="none" w="lg" len="med"/>
                </a:ln>
              </p:spPr>
            </p:sp>
            <p:sp>
              <p:nvSpPr>
                <p:cNvPr id="69719" name="Line 48"/>
                <p:cNvSpPr/>
                <p:nvPr/>
              </p:nvSpPr>
              <p:spPr>
                <a:xfrm flipH="1">
                  <a:off x="3583" y="2999"/>
                  <a:ext cx="1678" cy="0"/>
                </a:xfrm>
                <a:prstGeom prst="line">
                  <a:avLst/>
                </a:prstGeom>
                <a:ln w="38100" cap="flat" cmpd="sng">
                  <a:solidFill>
                    <a:srgbClr val="000080"/>
                  </a:solidFill>
                  <a:prstDash val="solid"/>
                  <a:headEnd type="none" w="med" len="med"/>
                  <a:tailEnd type="triangle" w="lg" len="med"/>
                </a:ln>
              </p:spPr>
            </p:sp>
          </p:grpSp>
        </p:grpSp>
        <p:sp>
          <p:nvSpPr>
            <p:cNvPr id="69692" name="Text Box 49"/>
            <p:cNvSpPr txBox="1"/>
            <p:nvPr/>
          </p:nvSpPr>
          <p:spPr>
            <a:xfrm>
              <a:off x="4581" y="1736"/>
              <a:ext cx="54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69693" name="Text Box 50"/>
            <p:cNvSpPr txBox="1"/>
            <p:nvPr/>
          </p:nvSpPr>
          <p:spPr>
            <a:xfrm>
              <a:off x="4559" y="2651"/>
              <a:ext cx="54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69694" name="Text Box 51"/>
            <p:cNvSpPr txBox="1"/>
            <p:nvPr/>
          </p:nvSpPr>
          <p:spPr>
            <a:xfrm>
              <a:off x="3992" y="2182"/>
              <a:ext cx="54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69695" name="Text Box 52"/>
            <p:cNvSpPr txBox="1"/>
            <p:nvPr/>
          </p:nvSpPr>
          <p:spPr>
            <a:xfrm>
              <a:off x="4014" y="3150"/>
              <a:ext cx="54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69696" name="Rectangle 53"/>
            <p:cNvSpPr/>
            <p:nvPr/>
          </p:nvSpPr>
          <p:spPr>
            <a:xfrm>
              <a:off x="3651" y="1607"/>
              <a:ext cx="13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M</a:t>
              </a:r>
              <a:endParaRPr lang="zh-CN" altLang="en-US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69697" name="Rectangle 54"/>
            <p:cNvSpPr/>
            <p:nvPr/>
          </p:nvSpPr>
          <p:spPr>
            <a:xfrm>
              <a:off x="3629" y="2537"/>
              <a:ext cx="11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N</a:t>
              </a:r>
              <a:endParaRPr lang="zh-CN" altLang="en-US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69698" name="Rectangle 55"/>
            <p:cNvSpPr/>
            <p:nvPr/>
          </p:nvSpPr>
          <p:spPr>
            <a:xfrm>
              <a:off x="5126" y="1630"/>
              <a:ext cx="11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K</a:t>
              </a:r>
              <a:endParaRPr lang="zh-CN" altLang="en-US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69699" name="Rectangle 56"/>
            <p:cNvSpPr/>
            <p:nvPr/>
          </p:nvSpPr>
          <p:spPr>
            <a:xfrm>
              <a:off x="5136" y="2529"/>
              <a:ext cx="8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J</a:t>
              </a:r>
              <a:endParaRPr lang="zh-CN" altLang="en-US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69700" name="Rectangle 57"/>
            <p:cNvSpPr/>
            <p:nvPr/>
          </p:nvSpPr>
          <p:spPr>
            <a:xfrm>
              <a:off x="3629" y="3459"/>
              <a:ext cx="10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P</a:t>
              </a:r>
              <a:endParaRPr lang="zh-CN" altLang="en-US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69701" name="Text Box 58"/>
            <p:cNvSpPr txBox="1"/>
            <p:nvPr/>
          </p:nvSpPr>
          <p:spPr>
            <a:xfrm>
              <a:off x="3651" y="1320"/>
              <a:ext cx="6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9702" name="Text Box 59"/>
            <p:cNvSpPr txBox="1"/>
            <p:nvPr/>
          </p:nvSpPr>
          <p:spPr>
            <a:xfrm>
              <a:off x="4785" y="1728"/>
              <a:ext cx="6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9703" name="Text Box 60"/>
            <p:cNvSpPr txBox="1"/>
            <p:nvPr/>
          </p:nvSpPr>
          <p:spPr>
            <a:xfrm>
              <a:off x="3651" y="2250"/>
              <a:ext cx="61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9704" name="Text Box 61"/>
            <p:cNvSpPr txBox="1"/>
            <p:nvPr/>
          </p:nvSpPr>
          <p:spPr>
            <a:xfrm>
              <a:off x="4763" y="2632"/>
              <a:ext cx="6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9705" name="Text Box 62"/>
            <p:cNvSpPr txBox="1"/>
            <p:nvPr/>
          </p:nvSpPr>
          <p:spPr>
            <a:xfrm>
              <a:off x="3628" y="3177"/>
              <a:ext cx="6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19288" y="1828842"/>
            <a:ext cx="405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1.</a:t>
            </a:r>
            <a:r>
              <a:rPr lang="zh-CN" altLang="en-US" dirty="0"/>
              <a:t>流程图如下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1439863" y="3452813"/>
            <a:ext cx="1752600" cy="3322638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Title 1"/>
          <p:cNvSpPr>
            <a:spLocks noGrp="1"/>
          </p:cNvSpPr>
          <p:nvPr>
            <p:ph type="title"/>
          </p:nvPr>
        </p:nvSpPr>
        <p:spPr>
          <a:xfrm>
            <a:off x="900113" y="-68262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4000" b="1" i="1" dirty="0">
                <a:solidFill>
                  <a:schemeClr val="hlink"/>
                </a:solidFill>
              </a:rPr>
              <a:t>示例 </a:t>
            </a:r>
            <a:r>
              <a:rPr lang="en-US" altLang="zh-CN" sz="2800" b="1" i="1" dirty="0">
                <a:solidFill>
                  <a:schemeClr val="hlink"/>
                </a:solidFill>
              </a:rPr>
              <a:t>(1)</a:t>
            </a:r>
            <a:endParaRPr lang="zh-CN" altLang="en-US" sz="2800" b="1" i="1" dirty="0">
              <a:solidFill>
                <a:schemeClr val="hlink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714" y="3994897"/>
          <a:ext cx="7302500" cy="2743200"/>
        </p:xfrm>
        <a:graphic>
          <a:graphicData uri="http://schemas.openxmlformats.org/drawingml/2006/table">
            <a:tbl>
              <a:tblPr/>
              <a:tblGrid>
                <a:gridCol w="1156407"/>
                <a:gridCol w="1854536"/>
                <a:gridCol w="1614688"/>
                <a:gridCol w="2676869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组合编号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覆盖条件取值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判定取值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判定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条件组合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T1</a:t>
                      </a:r>
                      <a:r>
                        <a:rPr lang="zh-CN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T2</a:t>
                      </a:r>
                      <a:endParaRPr lang="en-US" sz="20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m&gt;1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n&gt;0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取真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T1</a:t>
                      </a:r>
                      <a:r>
                        <a:rPr lang="zh-CN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F2</a:t>
                      </a:r>
                      <a:endParaRPr lang="en-US" sz="20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alt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m&gt;1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n&lt;=0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取假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F1</a:t>
                      </a:r>
                      <a:r>
                        <a:rPr lang="zh-CN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T2</a:t>
                      </a:r>
                      <a:endParaRPr lang="en-US" sz="20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altLang="zh-CN" sz="2000" kern="100" dirty="0">
                          <a:solidFill>
                            <a:srgbClr val="000000"/>
                          </a:solidFill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-M</a:t>
                      </a:r>
                      <a:endParaRPr lang="zh-CN" alt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m&lt;=1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n&gt;0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取假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F1</a:t>
                      </a:r>
                      <a:r>
                        <a:rPr lang="zh-CN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F2</a:t>
                      </a:r>
                      <a:endParaRPr lang="en-US" sz="20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altLang="zh-CN" sz="2000" kern="100" dirty="0">
                          <a:solidFill>
                            <a:srgbClr val="000000"/>
                          </a:solidFill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-M</a:t>
                      </a:r>
                      <a:endParaRPr lang="zh-CN" alt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m&lt;=1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n&lt;=0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取假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T3</a:t>
                      </a:r>
                      <a:r>
                        <a:rPr lang="zh-CN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T4</a:t>
                      </a:r>
                      <a:endParaRPr lang="en-US" sz="2000" kern="100" dirty="0">
                        <a:solidFill>
                          <a:srgbClr val="0070C0"/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m&gt;3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x&gt;1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取真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T3</a:t>
                      </a:r>
                      <a:r>
                        <a:rPr lang="zh-CN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F4</a:t>
                      </a:r>
                      <a:endParaRPr lang="en-US" sz="2000" kern="100" dirty="0">
                        <a:solidFill>
                          <a:srgbClr val="0070C0"/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m&gt;3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x&lt;=1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取真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 err="1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F3</a:t>
                      </a:r>
                      <a:r>
                        <a:rPr lang="zh-CN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 err="1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T4</a:t>
                      </a:r>
                      <a:endParaRPr lang="en-US" sz="2000" kern="100" dirty="0" err="1">
                        <a:solidFill>
                          <a:srgbClr val="0070C0"/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alt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m&lt;=3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x&gt;1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取真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F3</a:t>
                      </a:r>
                      <a:r>
                        <a:rPr lang="zh-CN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70C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F4</a:t>
                      </a:r>
                      <a:endParaRPr lang="en-US" sz="2000" kern="100" dirty="0">
                        <a:solidFill>
                          <a:srgbClr val="0070C0"/>
                        </a:solidFill>
                        <a:latin typeface="Arial" panose="020B060402020202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alt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m&lt;=3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x&lt;=1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20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取假</a:t>
                      </a:r>
                      <a:endParaRPr lang="zh-CN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9689" name="文本框 1"/>
          <p:cNvSpPr txBox="1"/>
          <p:nvPr/>
        </p:nvSpPr>
        <p:spPr>
          <a:xfrm>
            <a:off x="838298" y="1595236"/>
            <a:ext cx="4427855" cy="24301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判定</a:t>
            </a:r>
            <a:r>
              <a:rPr lang="en-US" altLang="zh-CN" sz="1800" dirty="0"/>
              <a:t>m&gt;1 and n&gt;0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M,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-M</a:t>
            </a:r>
            <a:endParaRPr lang="en-US" altLang="zh-CN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判定</a:t>
            </a:r>
            <a:r>
              <a:rPr lang="en-US" altLang="zh-CN" sz="1800" dirty="0"/>
              <a:t>m&gt;3 </a:t>
            </a:r>
            <a:r>
              <a:rPr lang="en-US" altLang="zh-CN" sz="1800" dirty="0" smtClean="0"/>
              <a:t>or </a:t>
            </a:r>
            <a:r>
              <a:rPr lang="en-US" altLang="zh-CN" sz="1800" dirty="0"/>
              <a:t>x&gt;1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N,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-N</a:t>
            </a:r>
            <a:endParaRPr lang="en-US" altLang="zh-CN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条件</a:t>
            </a:r>
            <a:r>
              <a:rPr lang="en-US" altLang="zh-CN" sz="1800" dirty="0"/>
              <a:t>m&gt;1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T1,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F1</a:t>
            </a:r>
            <a:endParaRPr lang="en-US" altLang="zh-CN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条件</a:t>
            </a:r>
            <a:r>
              <a:rPr lang="en-US" altLang="zh-CN" sz="1800" dirty="0"/>
              <a:t>n&gt;0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T2,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F2</a:t>
            </a:r>
            <a:endParaRPr lang="en-US" altLang="zh-CN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条件</a:t>
            </a:r>
            <a:r>
              <a:rPr lang="en-US" altLang="zh-CN" sz="1800" dirty="0"/>
              <a:t>m&gt;3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T3,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F3</a:t>
            </a:r>
            <a:endParaRPr lang="en-US" altLang="zh-CN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条件</a:t>
            </a:r>
            <a:r>
              <a:rPr lang="en-US" altLang="zh-CN" sz="1800" dirty="0"/>
              <a:t>x&gt;1</a:t>
            </a:r>
            <a:r>
              <a:rPr lang="zh-CN" altLang="en-US" sz="1800" dirty="0"/>
              <a:t>为真时记为</a:t>
            </a:r>
            <a:r>
              <a:rPr lang="en-US" altLang="zh-CN" sz="1800" dirty="0"/>
              <a:t>T4,</a:t>
            </a:r>
            <a:r>
              <a:rPr lang="zh-CN" altLang="en-US" sz="1800" dirty="0"/>
              <a:t>为假时记为</a:t>
            </a:r>
            <a:r>
              <a:rPr lang="en-US" altLang="zh-CN" sz="1800" dirty="0"/>
              <a:t>F4</a:t>
            </a:r>
            <a:endParaRPr lang="zh-CN" altLang="en-US" sz="18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1140098" y="1057988"/>
            <a:ext cx="3266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组合情况分析如下：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7346950" y="1931988"/>
            <a:ext cx="1387475" cy="3322638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sz="4000" b="1" i="1" dirty="0">
                <a:solidFill>
                  <a:schemeClr val="hlink"/>
                </a:solidFill>
              </a:rPr>
              <a:t>设计测试用例</a:t>
            </a:r>
            <a:endParaRPr lang="zh-CN" altLang="en-US" sz="4000" b="1" i="1" dirty="0">
              <a:solidFill>
                <a:schemeClr val="hlink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68400" y="1741488"/>
          <a:ext cx="7558087" cy="3590925"/>
        </p:xfrm>
        <a:graphic>
          <a:graphicData uri="http://schemas.openxmlformats.org/drawingml/2006/table">
            <a:tbl>
              <a:tblPr/>
              <a:tblGrid>
                <a:gridCol w="2791532"/>
                <a:gridCol w="2052228"/>
                <a:gridCol w="1944216"/>
                <a:gridCol w="770111"/>
              </a:tblGrid>
              <a:tr h="627004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测试用例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覆盖条件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覆盖路径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覆盖组合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850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输入：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m=4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n=1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x=8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输出：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m=4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n=1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smtClean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x=4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T1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T2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T4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P1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1-2-4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）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747">
                <a:tc>
                  <a:txBody>
                    <a:bodyPr/>
                    <a:lstStyle/>
                    <a:p>
                      <a:pPr algn="just">
                        <a:spcAft>
                          <a:spcPts val="120"/>
                        </a:spcAft>
                      </a:pPr>
                      <a:r>
                        <a:rPr lang="zh-CN" altLang="en-US" sz="18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自行补充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T1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F2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F4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P3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1-3-4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）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66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自行补充</a:t>
                      </a:r>
                      <a:endParaRPr lang="zh-CN" alt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120"/>
                        </a:spcAft>
                      </a:pP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F1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T2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T4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P3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1-3-4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）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66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自行补充</a:t>
                      </a:r>
                      <a:endParaRPr lang="zh-CN" alt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120"/>
                        </a:spcAft>
                      </a:pP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F1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F2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F3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F4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P4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1-3-5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）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2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，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716" name="Rounded Rectangle 6"/>
          <p:cNvSpPr/>
          <p:nvPr/>
        </p:nvSpPr>
        <p:spPr>
          <a:xfrm>
            <a:off x="6181725" y="2052638"/>
            <a:ext cx="1423988" cy="310515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1109962" y="1076929"/>
            <a:ext cx="277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测试用例表如下：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en-US" altLang="zh-CN" dirty="0" err="1"/>
              <a:t>junit</a:t>
            </a:r>
            <a:r>
              <a:rPr lang="zh-CN" altLang="en-US" dirty="0"/>
              <a:t>单元测试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8975" y="533400"/>
            <a:ext cx="8225790" cy="6095365"/>
          </a:xfrm>
          <a:prstGeom prst="rect">
            <a:avLst/>
          </a:prstGeom>
          <a:solidFill>
            <a:schemeClr val="accent3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39165" y="609600"/>
            <a:ext cx="7073265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org.junit</a:t>
            </a:r>
            <a:r>
              <a:rPr lang="en-US" altLang="zh-CN" dirty="0"/>
              <a:t>.*;</a:t>
            </a:r>
            <a:endParaRPr lang="en-US" altLang="zh-CN" dirty="0"/>
          </a:p>
          <a:p>
            <a:r>
              <a:rPr lang="en-US" altLang="zh-CN" dirty="0"/>
              <a:t>import static </a:t>
            </a:r>
            <a:r>
              <a:rPr lang="en-US" altLang="zh-CN" dirty="0" err="1"/>
              <a:t>org.junit.Assert</a:t>
            </a:r>
            <a:r>
              <a:rPr lang="en-US" altLang="zh-CN" dirty="0"/>
              <a:t>.*;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public class </a:t>
            </a:r>
            <a:r>
              <a:rPr lang="en-US" altLang="zh-CN" dirty="0" err="1"/>
              <a:t>UserLoginTest</a:t>
            </a:r>
            <a:r>
              <a:rPr lang="en-US" altLang="zh-CN" dirty="0"/>
              <a:t> {</a:t>
            </a:r>
            <a:endParaRPr lang="en-US" altLang="zh-CN" dirty="0"/>
          </a:p>
          <a:p>
            <a:r>
              <a:rPr lang="en-US" altLang="zh-CN" dirty="0"/>
              <a:t>    private </a:t>
            </a:r>
            <a:r>
              <a:rPr lang="en-US" altLang="zh-CN" dirty="0" err="1"/>
              <a:t>LoginService</a:t>
            </a:r>
            <a:r>
              <a:rPr lang="en-US" altLang="zh-CN" dirty="0"/>
              <a:t> </a:t>
            </a:r>
            <a:r>
              <a:rPr lang="en-US" altLang="zh-CN" dirty="0" err="1"/>
              <a:t>loginService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初始化测试环境</a:t>
            </a:r>
            <a:endParaRPr lang="zh-CN" altLang="en-US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@___Before________</a:t>
            </a:r>
            <a:endParaRPr lang="en-US" altLang="zh-CN" u="sng" dirty="0"/>
          </a:p>
          <a:p>
            <a:r>
              <a:rPr lang="en-US" altLang="zh-CN" dirty="0"/>
              <a:t>    public void </a:t>
            </a:r>
            <a:r>
              <a:rPr lang="en-US" altLang="zh-CN" dirty="0" err="1"/>
              <a:t>setUp</a:t>
            </a:r>
            <a:r>
              <a:rPr lang="en-US" altLang="zh-CN" dirty="0"/>
              <a:t>() {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loginService</a:t>
            </a:r>
            <a:r>
              <a:rPr lang="en-US" altLang="zh-CN" dirty="0"/>
              <a:t> = new </a:t>
            </a:r>
            <a:r>
              <a:rPr lang="en-US" altLang="zh-CN" dirty="0" err="1"/>
              <a:t>LoginService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清理测试环境</a:t>
            </a:r>
            <a:endParaRPr lang="zh-CN" altLang="en-US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@___ After _________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public void </a:t>
            </a:r>
            <a:r>
              <a:rPr lang="en-US" altLang="zh-CN" dirty="0" err="1"/>
              <a:t>tearDown</a:t>
            </a:r>
            <a:r>
              <a:rPr lang="en-US" altLang="zh-CN" dirty="0"/>
              <a:t>() {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loginService</a:t>
            </a:r>
            <a:r>
              <a:rPr lang="en-US" altLang="zh-CN" dirty="0"/>
              <a:t> = null;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测试内容在下一页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en-US" altLang="zh-CN" dirty="0"/>
              <a:t>    ......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8620" y="609600"/>
            <a:ext cx="8613775" cy="6095365"/>
          </a:xfrm>
          <a:prstGeom prst="rect">
            <a:avLst/>
          </a:prstGeom>
          <a:solidFill>
            <a:schemeClr val="accent3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4820" y="914400"/>
            <a:ext cx="9053195" cy="5842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    // </a:t>
            </a:r>
            <a:r>
              <a:rPr lang="zh-CN" altLang="en-US" dirty="0">
                <a:sym typeface="+mn-ea"/>
              </a:rPr>
              <a:t>测试正常登录（用户名密码正确）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@</a:t>
            </a:r>
            <a:r>
              <a:rPr lang="en-US" altLang="zh-CN" dirty="0">
                <a:solidFill>
                  <a:srgbClr val="FF0000"/>
                </a:solidFill>
              </a:rPr>
              <a:t>___ Test ___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public void </a:t>
            </a:r>
            <a:r>
              <a:rPr lang="en-US" altLang="zh-CN" dirty="0" err="1">
                <a:sym typeface="+mn-ea"/>
              </a:rPr>
              <a:t>testSuccessfulLogin</a:t>
            </a:r>
            <a:r>
              <a:rPr lang="en-US" altLang="zh-CN" dirty="0">
                <a:sym typeface="+mn-ea"/>
              </a:rPr>
              <a:t>() {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// </a:t>
            </a:r>
            <a:r>
              <a:rPr lang="zh-CN" altLang="en-US" dirty="0">
                <a:sym typeface="+mn-ea"/>
              </a:rPr>
              <a:t>模拟正确的用户名和密码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        String username = "</a:t>
            </a:r>
            <a:r>
              <a:rPr lang="en-US" altLang="zh-CN" dirty="0" err="1">
                <a:sym typeface="+mn-ea"/>
              </a:rPr>
              <a:t>testUser</a:t>
            </a:r>
            <a:r>
              <a:rPr lang="en-US" altLang="zh-CN" dirty="0">
                <a:sym typeface="+mn-ea"/>
              </a:rPr>
              <a:t>";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String password = "correctPass123";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boolean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loginResult</a:t>
            </a:r>
            <a:r>
              <a:rPr lang="en-US" altLang="zh-CN" dirty="0">
                <a:sym typeface="+mn-ea"/>
              </a:rPr>
              <a:t> = </a:t>
            </a:r>
            <a:r>
              <a:rPr lang="en-US" altLang="zh-CN" dirty="0" err="1">
                <a:sym typeface="+mn-ea"/>
              </a:rPr>
              <a:t>loginService.login</a:t>
            </a:r>
            <a:r>
              <a:rPr lang="en-US" altLang="zh-CN" dirty="0">
                <a:sym typeface="+mn-ea"/>
              </a:rPr>
              <a:t>(username, password);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        </a:t>
            </a:r>
            <a:r>
              <a:rPr lang="en-US" altLang="zh-CN" u="sng" dirty="0" err="1">
                <a:solidFill>
                  <a:srgbClr val="FF0000"/>
                </a:solidFill>
                <a:sym typeface="+mn-ea"/>
              </a:rPr>
              <a:t>assertTrue</a:t>
            </a:r>
            <a:r>
              <a:rPr lang="en-US" altLang="zh-CN" dirty="0">
                <a:sym typeface="+mn-ea"/>
              </a:rPr>
              <a:t>("Login should succeed with correct credentials.", </a:t>
            </a:r>
            <a:r>
              <a:rPr lang="en-US" altLang="zh-CN" dirty="0" err="1">
                <a:sym typeface="+mn-ea"/>
              </a:rPr>
              <a:t>loginResult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        // </a:t>
            </a:r>
            <a:r>
              <a:rPr lang="zh-CN" altLang="en-US" dirty="0"/>
              <a:t>期望</a:t>
            </a:r>
            <a:r>
              <a:rPr lang="en-US" altLang="zh-CN" dirty="0"/>
              <a:t> </a:t>
            </a:r>
            <a:r>
              <a:rPr lang="en-US" altLang="zh-CN" dirty="0" err="1"/>
              <a:t>loginResult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en-US" altLang="zh-CN" dirty="0"/>
              <a:t> true</a:t>
            </a:r>
            <a:r>
              <a:rPr lang="zh-CN" altLang="en-US" dirty="0"/>
              <a:t>，为假会显示内容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    // </a:t>
            </a:r>
            <a:r>
              <a:rPr lang="zh-CN" altLang="en-US" dirty="0">
                <a:sym typeface="+mn-ea"/>
              </a:rPr>
              <a:t>测试登录失败（用户名不存在）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    @Test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public void </a:t>
            </a:r>
            <a:r>
              <a:rPr lang="en-US" altLang="zh-CN" dirty="0" err="1">
                <a:sym typeface="+mn-ea"/>
              </a:rPr>
              <a:t>testFailedLogin</a:t>
            </a:r>
            <a:r>
              <a:rPr lang="en-US" altLang="zh-CN" dirty="0">
                <a:sym typeface="+mn-ea"/>
              </a:rPr>
              <a:t>() {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// </a:t>
            </a:r>
            <a:r>
              <a:rPr lang="zh-CN" altLang="en-US" dirty="0">
                <a:sym typeface="+mn-ea"/>
              </a:rPr>
              <a:t>模拟不存在的用户名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        String username = "</a:t>
            </a:r>
            <a:r>
              <a:rPr lang="en-US" altLang="zh-CN" dirty="0" err="1">
                <a:sym typeface="+mn-ea"/>
              </a:rPr>
              <a:t>nonExistentUser</a:t>
            </a:r>
            <a:r>
              <a:rPr lang="en-US" altLang="zh-CN" dirty="0">
                <a:sym typeface="+mn-ea"/>
              </a:rPr>
              <a:t>";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String password = "</a:t>
            </a:r>
            <a:r>
              <a:rPr lang="en-US" altLang="zh-CN" dirty="0" err="1">
                <a:sym typeface="+mn-ea"/>
              </a:rPr>
              <a:t>anyPassword</a:t>
            </a:r>
            <a:r>
              <a:rPr lang="en-US" altLang="zh-CN" dirty="0">
                <a:sym typeface="+mn-ea"/>
              </a:rPr>
              <a:t>";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boolean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loginResult</a:t>
            </a:r>
            <a:r>
              <a:rPr lang="en-US" altLang="zh-CN" dirty="0">
                <a:sym typeface="+mn-ea"/>
              </a:rPr>
              <a:t> = </a:t>
            </a:r>
            <a:r>
              <a:rPr lang="en-US" altLang="zh-CN" dirty="0" err="1">
                <a:sym typeface="+mn-ea"/>
              </a:rPr>
              <a:t>loginService.login</a:t>
            </a:r>
            <a:r>
              <a:rPr lang="en-US" altLang="zh-CN" dirty="0">
                <a:sym typeface="+mn-ea"/>
              </a:rPr>
              <a:t>(username, password);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assertFalse</a:t>
            </a:r>
            <a:r>
              <a:rPr lang="en-US" altLang="zh-CN" dirty="0">
                <a:sym typeface="+mn-ea"/>
              </a:rPr>
              <a:t>("Login should fail with non-existent username.", </a:t>
            </a:r>
            <a:r>
              <a:rPr lang="en-US" altLang="zh-CN" dirty="0" err="1">
                <a:sym typeface="+mn-ea"/>
              </a:rPr>
              <a:t>loginResult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}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zh-CN" altLang="en-US"/>
              <a:t>判定表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/>
          </p:cNvSpPr>
          <p:nvPr>
            <p:ph type="title"/>
          </p:nvPr>
        </p:nvSpPr>
        <p:spPr>
          <a:xfrm>
            <a:off x="84138" y="533400"/>
            <a:ext cx="2297112" cy="762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200" b="1" i="1" dirty="0">
                <a:solidFill>
                  <a:srgbClr val="FF0000"/>
                </a:solidFill>
              </a:rPr>
              <a:t>判定表元素</a:t>
            </a:r>
            <a:endParaRPr lang="zh-CN" altLang="en-US" sz="3200" b="1" i="1" dirty="0">
              <a:solidFill>
                <a:srgbClr val="FF0000"/>
              </a:solidFill>
            </a:endParaRPr>
          </a:p>
        </p:txBody>
      </p:sp>
      <p:sp>
        <p:nvSpPr>
          <p:cNvPr id="144387" name="Rectangle 3"/>
          <p:cNvSpPr>
            <a:spLocks noGrp="1"/>
          </p:cNvSpPr>
          <p:nvPr>
            <p:ph idx="1"/>
          </p:nvPr>
        </p:nvSpPr>
        <p:spPr>
          <a:xfrm>
            <a:off x="2319338" y="6350"/>
            <a:ext cx="6873875" cy="34623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b="1" dirty="0"/>
              <a:t>条件桩</a:t>
            </a:r>
            <a:r>
              <a:rPr lang="zh-CN" altLang="zh-CN" sz="2400" dirty="0"/>
              <a:t>，列出问题的所有条件</a:t>
            </a:r>
            <a:endParaRPr lang="zh-CN" altLang="zh-CN" sz="2400" dirty="0"/>
          </a:p>
          <a:p>
            <a:r>
              <a:rPr lang="zh-CN" altLang="zh-CN" b="1" dirty="0"/>
              <a:t>动作桩</a:t>
            </a:r>
            <a:r>
              <a:rPr lang="zh-CN" altLang="zh-CN" sz="2400" dirty="0"/>
              <a:t>：列出可能针对问题所采取的操作</a:t>
            </a:r>
            <a:endParaRPr lang="zh-CN" altLang="zh-CN" sz="2400" dirty="0"/>
          </a:p>
          <a:p>
            <a:r>
              <a:rPr lang="zh-CN" altLang="zh-CN" b="1" dirty="0"/>
              <a:t>条件项</a:t>
            </a:r>
            <a:r>
              <a:rPr lang="zh-CN" altLang="zh-CN" sz="2400" dirty="0"/>
              <a:t>：针对所列条件的具体赋值</a:t>
            </a:r>
            <a:endParaRPr lang="zh-CN" altLang="zh-CN" sz="2400" dirty="0"/>
          </a:p>
          <a:p>
            <a:r>
              <a:rPr lang="zh-CN" altLang="zh-CN" b="1" dirty="0"/>
              <a:t>动作项</a:t>
            </a:r>
            <a:r>
              <a:rPr lang="zh-CN" altLang="zh-CN" sz="2400" dirty="0"/>
              <a:t>：列出在条件项（各种取值）组合情况下应该采取的动作。</a:t>
            </a:r>
            <a:endParaRPr lang="zh-CN" altLang="zh-CN" sz="2400" dirty="0"/>
          </a:p>
          <a:p>
            <a:r>
              <a:rPr lang="zh-CN" altLang="zh-CN" b="1" dirty="0"/>
              <a:t>规则</a:t>
            </a:r>
            <a:r>
              <a:rPr lang="zh-CN" altLang="zh-CN" sz="2400" dirty="0"/>
              <a:t>：任何一个条件组合的特定取值及其相应要执行的操作。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4275" name="表格 54274"/>
          <p:cNvGraphicFramePr/>
          <p:nvPr/>
        </p:nvGraphicFramePr>
        <p:xfrm>
          <a:off x="1992313" y="4903788"/>
          <a:ext cx="4249737" cy="1439862"/>
        </p:xfrm>
        <a:graphic>
          <a:graphicData uri="http://schemas.openxmlformats.org/drawingml/2006/table">
            <a:tbl>
              <a:tblPr/>
              <a:tblGrid>
                <a:gridCol w="1724025"/>
                <a:gridCol w="2525712"/>
              </a:tblGrid>
              <a:tr h="746124">
                <a:tc>
                  <a:txBody>
                    <a:bodyPr/>
                    <a:lstStyle>
                      <a:lvl1pPr marL="419100" lvl="0" indent="-38227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1pPr>
                      <a:lvl2pPr marL="722630" lvl="1" indent="-27178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2pPr>
                      <a:lvl3pPr marL="1005205" lvl="2" indent="-25590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3pPr>
                      <a:lvl4pPr marL="1279525" lvl="3" indent="-23622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4pPr>
                      <a:lvl5pPr marL="1489075" lvl="4" indent="-18224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00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条件桩</a:t>
                      </a:r>
                      <a:endParaRPr lang="zh-CN" altLang="en-US" sz="100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19100" lvl="0" indent="-38227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1pPr>
                      <a:lvl2pPr marL="722630" lvl="1" indent="-27178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2pPr>
                      <a:lvl3pPr marL="1005205" lvl="2" indent="-25590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3pPr>
                      <a:lvl4pPr marL="1279525" lvl="3" indent="-23622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4pPr>
                      <a:lvl5pPr marL="1489075" lvl="4" indent="-18224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00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条件项</a:t>
                      </a:r>
                      <a:endParaRPr lang="zh-CN" altLang="en-US" sz="100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>
                        <a:alpha val="100000"/>
                      </a:srgbClr>
                    </a:solidFill>
                  </a:tcPr>
                </a:tc>
              </a:tr>
              <a:tr h="693738">
                <a:tc>
                  <a:txBody>
                    <a:bodyPr/>
                    <a:lstStyle>
                      <a:lvl1pPr marL="419100" lvl="0" indent="-38227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1pPr>
                      <a:lvl2pPr marL="722630" lvl="1" indent="-27178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2pPr>
                      <a:lvl3pPr marL="1005205" lvl="2" indent="-25590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3pPr>
                      <a:lvl4pPr marL="1279525" lvl="3" indent="-23622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4pPr>
                      <a:lvl5pPr marL="1489075" lvl="4" indent="-18224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00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动作桩</a:t>
                      </a:r>
                      <a:endParaRPr lang="zh-CN" altLang="en-US" sz="100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19100" lvl="0" indent="-38227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1pPr>
                      <a:lvl2pPr marL="722630" lvl="1" indent="-27178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2pPr>
                      <a:lvl3pPr marL="1005205" lvl="2" indent="-25590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3pPr>
                      <a:lvl4pPr marL="1279525" lvl="3" indent="-236220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4pPr>
                      <a:lvl5pPr marL="1489075" lvl="4" indent="-182245" algn="l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000" u="non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动作项</a:t>
                      </a:r>
                      <a:endParaRPr lang="zh-CN" altLang="en-US" sz="1000" u="none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44399" name="图片 54292"/>
          <p:cNvPicPr/>
          <p:nvPr/>
        </p:nvPicPr>
        <p:blipFill>
          <a:blip r:embed="rId1"/>
          <a:stretch>
            <a:fillRect/>
          </a:stretch>
        </p:blipFill>
        <p:spPr>
          <a:xfrm>
            <a:off x="5246688" y="4903788"/>
            <a:ext cx="1724025" cy="16097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41680" name="表格占位符 241679"/>
          <p:cNvGraphicFramePr>
            <a:graphicFrameLocks noGrp="1"/>
          </p:cNvGraphicFramePr>
          <p:nvPr>
            <p:ph type="tbl" idx="4294967295"/>
          </p:nvPr>
        </p:nvGraphicFramePr>
        <p:xfrm>
          <a:off x="838200" y="3397250"/>
          <a:ext cx="7467600" cy="3192465"/>
        </p:xfrm>
        <a:graphic>
          <a:graphicData uri="http://schemas.openxmlformats.org/drawingml/2006/table">
            <a:tbl>
              <a:tblPr/>
              <a:tblGrid>
                <a:gridCol w="1579563"/>
                <a:gridCol w="1849437"/>
                <a:gridCol w="519113"/>
                <a:gridCol w="592137"/>
                <a:gridCol w="628650"/>
                <a:gridCol w="574675"/>
                <a:gridCol w="574675"/>
                <a:gridCol w="574675"/>
                <a:gridCol w="574675"/>
              </a:tblGrid>
              <a:tr h="363538">
                <a:tc gridSpan="3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                    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规则选项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rowSpan="4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原因（输入）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行政管理员工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一线生产员工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严重过失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过失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rowSpan="3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结果（输出）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4%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6%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6429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10%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44485" name="左弧形箭头 3"/>
          <p:cNvSpPr/>
          <p:nvPr/>
        </p:nvSpPr>
        <p:spPr>
          <a:xfrm>
            <a:off x="1908175" y="333375"/>
            <a:ext cx="574675" cy="4248150"/>
          </a:xfrm>
          <a:prstGeom prst="curvedRightArrow">
            <a:avLst>
              <a:gd name="adj1" fmla="val 25059"/>
              <a:gd name="adj2" fmla="val 50104"/>
              <a:gd name="adj3" fmla="val 25000"/>
            </a:avLst>
          </a:prstGeom>
          <a:solidFill>
            <a:schemeClr val="accent1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1800" dirty="0"/>
          </a:p>
        </p:txBody>
      </p:sp>
      <p:sp>
        <p:nvSpPr>
          <p:cNvPr id="144486" name="左弧形箭头 4"/>
          <p:cNvSpPr/>
          <p:nvPr/>
        </p:nvSpPr>
        <p:spPr>
          <a:xfrm>
            <a:off x="1908175" y="873125"/>
            <a:ext cx="574675" cy="5075238"/>
          </a:xfrm>
          <a:prstGeom prst="curvedRightArrow">
            <a:avLst>
              <a:gd name="adj1" fmla="val 25054"/>
              <a:gd name="adj2" fmla="val 50083"/>
              <a:gd name="adj3" fmla="val 25000"/>
            </a:avLst>
          </a:prstGeom>
          <a:solidFill>
            <a:schemeClr val="accent1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1800" dirty="0"/>
          </a:p>
        </p:txBody>
      </p:sp>
      <p:sp>
        <p:nvSpPr>
          <p:cNvPr id="144487" name="右弧形箭头 7"/>
          <p:cNvSpPr/>
          <p:nvPr/>
        </p:nvSpPr>
        <p:spPr>
          <a:xfrm>
            <a:off x="7775575" y="1700213"/>
            <a:ext cx="720725" cy="4357687"/>
          </a:xfrm>
          <a:prstGeom prst="curvedLeftArrow">
            <a:avLst>
              <a:gd name="adj1" fmla="val 24995"/>
              <a:gd name="adj2" fmla="val 49966"/>
              <a:gd name="adj3" fmla="val 25000"/>
            </a:avLst>
          </a:prstGeom>
          <a:solidFill>
            <a:schemeClr val="accent1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1800" dirty="0"/>
          </a:p>
        </p:txBody>
      </p:sp>
      <p:sp>
        <p:nvSpPr>
          <p:cNvPr id="144488" name="上箭头标注 10"/>
          <p:cNvSpPr/>
          <p:nvPr/>
        </p:nvSpPr>
        <p:spPr>
          <a:xfrm>
            <a:off x="4907915" y="1445895"/>
            <a:ext cx="3228340" cy="3734435"/>
          </a:xfrm>
          <a:prstGeom prst="upArrowCallout">
            <a:avLst>
              <a:gd name="adj1" fmla="val 25000"/>
              <a:gd name="adj2" fmla="val 25000"/>
              <a:gd name="adj3" fmla="val 24927"/>
              <a:gd name="adj4" fmla="val 34907"/>
            </a:avLst>
          </a:prstGeom>
          <a:solidFill>
            <a:schemeClr val="accent1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1800" dirty="0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/>
          </p:cNvSpPr>
          <p:nvPr>
            <p:ph type="title"/>
          </p:nvPr>
        </p:nvSpPr>
        <p:spPr>
          <a:xfrm>
            <a:off x="647700" y="512763"/>
            <a:ext cx="7772400" cy="762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200" b="1" i="1" dirty="0">
                <a:solidFill>
                  <a:schemeClr val="tx1"/>
                </a:solidFill>
              </a:rPr>
              <a:t>判定表方法步骤</a:t>
            </a:r>
            <a:endParaRPr lang="zh-CN" altLang="en-US" sz="3200" b="1" i="1" dirty="0">
              <a:solidFill>
                <a:schemeClr val="tx1"/>
              </a:solidFill>
            </a:endParaRPr>
          </a:p>
        </p:txBody>
      </p:sp>
      <p:sp>
        <p:nvSpPr>
          <p:cNvPr id="146435" name="Rectangle 3"/>
          <p:cNvSpPr>
            <a:spLocks noGrp="1"/>
          </p:cNvSpPr>
          <p:nvPr>
            <p:ph idx="1"/>
          </p:nvPr>
        </p:nvSpPr>
        <p:spPr>
          <a:xfrm>
            <a:off x="965200" y="1480503"/>
            <a:ext cx="7135813" cy="23368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dirty="0"/>
              <a:t>列出所有的</a:t>
            </a:r>
            <a:r>
              <a:rPr lang="zh-CN" altLang="zh-CN" dirty="0">
                <a:solidFill>
                  <a:srgbClr val="FF0000"/>
                </a:solidFill>
              </a:rPr>
              <a:t>条件桩和动作桩</a:t>
            </a:r>
            <a:r>
              <a:rPr lang="zh-CN" altLang="zh-CN" dirty="0"/>
              <a:t>；</a:t>
            </a:r>
            <a:endParaRPr lang="zh-CN" altLang="zh-CN" dirty="0"/>
          </a:p>
          <a:p>
            <a:r>
              <a:rPr lang="zh-CN" altLang="zh-CN" dirty="0"/>
              <a:t>填入</a:t>
            </a:r>
            <a:r>
              <a:rPr lang="zh-CN" altLang="zh-CN" dirty="0">
                <a:solidFill>
                  <a:srgbClr val="FF0000"/>
                </a:solidFill>
              </a:rPr>
              <a:t>条件项</a:t>
            </a:r>
            <a:r>
              <a:rPr lang="zh-CN" altLang="zh-CN" dirty="0"/>
              <a:t>；</a:t>
            </a:r>
            <a:endParaRPr lang="zh-CN" altLang="zh-CN" dirty="0"/>
          </a:p>
          <a:p>
            <a:r>
              <a:rPr lang="zh-CN" altLang="zh-CN" dirty="0"/>
              <a:t>填入</a:t>
            </a:r>
            <a:r>
              <a:rPr lang="zh-CN" altLang="zh-CN" dirty="0">
                <a:solidFill>
                  <a:srgbClr val="FF0000"/>
                </a:solidFill>
              </a:rPr>
              <a:t>动作项</a:t>
            </a:r>
            <a:r>
              <a:rPr lang="zh-CN" altLang="zh-CN" dirty="0"/>
              <a:t>，制定初始判定表；</a:t>
            </a:r>
            <a:endParaRPr lang="zh-CN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简化、合并</a:t>
            </a:r>
            <a:r>
              <a:rPr lang="zh-CN" altLang="zh-CN" dirty="0"/>
              <a:t>相似规则或者相同动作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3716" name="表格占位符 243715"/>
          <p:cNvGraphicFramePr>
            <a:graphicFrameLocks noGrp="1"/>
          </p:cNvGraphicFramePr>
          <p:nvPr>
            <p:ph type="tbl" idx="4294967295"/>
          </p:nvPr>
        </p:nvGraphicFramePr>
        <p:xfrm>
          <a:off x="838200" y="3548380"/>
          <a:ext cx="7467600" cy="3192465"/>
        </p:xfrm>
        <a:graphic>
          <a:graphicData uri="http://schemas.openxmlformats.org/drawingml/2006/table">
            <a:tbl>
              <a:tblPr/>
              <a:tblGrid>
                <a:gridCol w="1579563"/>
                <a:gridCol w="1849437"/>
                <a:gridCol w="519113"/>
                <a:gridCol w="592137"/>
                <a:gridCol w="628650"/>
                <a:gridCol w="574675"/>
                <a:gridCol w="574675"/>
                <a:gridCol w="574675"/>
                <a:gridCol w="574675"/>
              </a:tblGrid>
              <a:tr h="363538">
                <a:tc gridSpan="3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                    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规则选项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黑体" panose="02010609060101010101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rowSpan="4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原因（输入）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行政管理员工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一线生产员工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严重过失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5125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过失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rowSpan="3"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结果（输出）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4%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3635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6%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  <a:tr h="642938">
                <a:tc vMerge="1">
                  <a:tcPr/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扣年终奖的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10%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楷体_GB2312" pitchFamily="49" charset="-122"/>
                      </a:endParaRPr>
                    </a:p>
                  </a:txBody>
                  <a:tcPr marL="90170" marR="90170" marT="42906" marB="429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内容占位符 2"/>
          <p:cNvSpPr/>
          <p:nvPr/>
        </p:nvSpPr>
        <p:spPr>
          <a:xfrm>
            <a:off x="468313" y="3629978"/>
            <a:ext cx="8280400" cy="1801812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第一步：列出条件桩和动作桩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条件桩：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​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457200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C1: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语文是否不及格（是：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C1 /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否：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457200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C2: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数学是否不及格（是：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M1 /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否：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M2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457200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C3: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英语是否不及格（是：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E1 /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否：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E2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动作桩：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​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457200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A1: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打印三门课程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457200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A2: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输出信息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W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0531" name="内容占位符 2"/>
          <p:cNvSpPr/>
          <p:nvPr/>
        </p:nvSpPr>
        <p:spPr>
          <a:xfrm>
            <a:off x="323850" y="117475"/>
            <a:ext cx="9217025" cy="1655763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sz="4500" b="1" dirty="0">
                <a:latin typeface="Franklin Gothic Book" pitchFamily="34" charset="0"/>
                <a:sym typeface="黑体" panose="02010609060101010101" pitchFamily="49" charset="-122"/>
              </a:rPr>
              <a:t>判定表驱动法设计测试用例</a:t>
            </a:r>
            <a:endParaRPr lang="zh-CN" altLang="en-US" sz="4500" b="1" dirty="0">
              <a:solidFill>
                <a:srgbClr val="FF0000"/>
              </a:solidFill>
              <a:latin typeface="Franklin Gothic Book" pitchFamily="34" charset="0"/>
              <a:sym typeface="黑体" panose="02010609060101010101" pitchFamily="49" charset="-122"/>
            </a:endParaRPr>
          </a:p>
          <a:p>
            <a:pPr eaLnBrk="1" hangingPunct="1"/>
            <a:endParaRPr lang="zh-CN" altLang="en-US" sz="4500" b="1" dirty="0">
              <a:solidFill>
                <a:srgbClr val="FF0000"/>
              </a:solidFill>
              <a:latin typeface="Franklin Gothic Book" pitchFamily="34" charset="0"/>
              <a:sym typeface="宋体" panose="02010600030101010101" pitchFamily="2" charset="-122"/>
            </a:endParaRPr>
          </a:p>
        </p:txBody>
      </p:sp>
      <p:sp>
        <p:nvSpPr>
          <p:cNvPr id="150532" name="内容占位符 2"/>
          <p:cNvSpPr/>
          <p:nvPr/>
        </p:nvSpPr>
        <p:spPr>
          <a:xfrm>
            <a:off x="468313" y="1648778"/>
            <a:ext cx="8280400" cy="938212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【例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5-11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】学生共考三门课程，语文、数学、英语，如果有一门以上课程不及格，就将这三门课程打印出来，否则输出信息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。试用判定表驱动法设计测试用例。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解：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内容占位符 2"/>
          <p:cNvSpPr/>
          <p:nvPr/>
        </p:nvSpPr>
        <p:spPr>
          <a:xfrm>
            <a:off x="755650" y="4260533"/>
            <a:ext cx="8280400" cy="1512887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第二步：填写完整判定表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）变量：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Chinese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C1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0≤Chinese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＜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C2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60≤Chinese≤100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）变量：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Math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M1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0≤Math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＜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M2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60≤Math≤100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）变量：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English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E1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0≤English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＜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   E2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60≤English≤100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1555" name="内容占位符 2"/>
          <p:cNvSpPr/>
          <p:nvPr/>
        </p:nvSpPr>
        <p:spPr>
          <a:xfrm>
            <a:off x="323850" y="117475"/>
            <a:ext cx="9217025" cy="1655763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sz="4500" b="1" dirty="0">
                <a:latin typeface="Franklin Gothic Book" pitchFamily="34" charset="0"/>
                <a:sym typeface="黑体" panose="02010609060101010101" pitchFamily="49" charset="-122"/>
              </a:rPr>
              <a:t>判定表驱动法设计测试用例</a:t>
            </a:r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  <a:p>
            <a:pPr eaLnBrk="1" hangingPunct="1"/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</p:txBody>
      </p:sp>
      <p:sp>
        <p:nvSpPr>
          <p:cNvPr id="151556" name="内容占位符 2"/>
          <p:cNvSpPr/>
          <p:nvPr/>
        </p:nvSpPr>
        <p:spPr>
          <a:xfrm>
            <a:off x="468313" y="1523683"/>
            <a:ext cx="8280400" cy="938212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【例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5-11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】学生共考三门课程，语文、数学、英语，如果有一门以上课程不及格，就将这三门课程打印出来，否则输出信息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。试用判定表驱动法设计测试用例。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解：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90320" y="1797050"/>
            <a:ext cx="73977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sym typeface="+mn-ea"/>
              </a:rPr>
              <a:t>【例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5-11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】学生共考三门课程，语文、数学、英语，如果有一门以上课程不及格，就将这三门课程打印出来，否则输出信息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W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。试用判定表驱动法设计测试用例。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sym typeface="+mn-ea"/>
              </a:rPr>
              <a:t>解：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2578" name="内容占位符 2"/>
          <p:cNvSpPr/>
          <p:nvPr/>
        </p:nvSpPr>
        <p:spPr>
          <a:xfrm>
            <a:off x="1187450" y="2889250"/>
            <a:ext cx="8280400" cy="647700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第三步：创建判定表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根据题意创建如表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5-20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所示的判定表。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3657600"/>
            <a:ext cx="5085715" cy="2837815"/>
          </a:xfrm>
          <a:prstGeom prst="rect">
            <a:avLst/>
          </a:prstGeom>
        </p:spPr>
      </p:pic>
      <p:sp>
        <p:nvSpPr>
          <p:cNvPr id="151555" name="内容占位符 2"/>
          <p:cNvSpPr/>
          <p:nvPr/>
        </p:nvSpPr>
        <p:spPr>
          <a:xfrm>
            <a:off x="323850" y="117475"/>
            <a:ext cx="9217025" cy="1655763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sz="4500" b="1" dirty="0">
                <a:latin typeface="Franklin Gothic Book" pitchFamily="34" charset="0"/>
                <a:sym typeface="黑体" panose="02010609060101010101" pitchFamily="49" charset="-122"/>
              </a:rPr>
              <a:t>判定表驱动法设计测试用例</a:t>
            </a:r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  <a:p>
            <a:pPr eaLnBrk="1" hangingPunct="1"/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/>
          <p:nvPr/>
        </p:nvSpPr>
        <p:spPr>
          <a:xfrm>
            <a:off x="323850" y="117475"/>
            <a:ext cx="9217025" cy="1655763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sz="4500" b="1" dirty="0">
                <a:latin typeface="Franklin Gothic Book" pitchFamily="34" charset="0"/>
                <a:sym typeface="黑体" panose="02010609060101010101" pitchFamily="49" charset="-122"/>
              </a:rPr>
              <a:t>判定表驱动法设计测试用例</a:t>
            </a:r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  <a:p>
            <a:pPr eaLnBrk="1" hangingPunct="1"/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</p:txBody>
      </p:sp>
      <p:sp>
        <p:nvSpPr>
          <p:cNvPr id="7" name="内容占位符 2"/>
          <p:cNvSpPr/>
          <p:nvPr/>
        </p:nvSpPr>
        <p:spPr>
          <a:xfrm>
            <a:off x="900113" y="2585403"/>
            <a:ext cx="8280400" cy="936625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第四步：简化判定表（仅一个条件取值不同）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经过合并简化的判定表，如表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5-21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所示。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05" name="内容占位符 2"/>
          <p:cNvSpPr/>
          <p:nvPr/>
        </p:nvSpPr>
        <p:spPr>
          <a:xfrm>
            <a:off x="468313" y="1648778"/>
            <a:ext cx="8280400" cy="938212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【例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5-11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】学生共考三门课程，语文、数学、英语，如果有一门以上课程不及格，就将这三门课程打印出来，否则输出信息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。试用判定表驱动法设计测试用例。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解：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352800"/>
            <a:ext cx="5808345" cy="331787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内容占位符 2"/>
          <p:cNvSpPr/>
          <p:nvPr/>
        </p:nvSpPr>
        <p:spPr>
          <a:xfrm>
            <a:off x="971550" y="2586990"/>
            <a:ext cx="8280400" cy="431800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第五步：设计测试用例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4675" name="内容占位符 2"/>
          <p:cNvSpPr/>
          <p:nvPr/>
        </p:nvSpPr>
        <p:spPr>
          <a:xfrm>
            <a:off x="468313" y="1648778"/>
            <a:ext cx="8280400" cy="938212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【例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5-11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】学生共考三门课程，语文、数学、英语，如果有一门以上课程不及格，就将这三门课程打印出来，否则输出信息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。试用判定表驱动法设计测试用例。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解：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内容占位符 2"/>
          <p:cNvSpPr/>
          <p:nvPr/>
        </p:nvSpPr>
        <p:spPr>
          <a:xfrm>
            <a:off x="323850" y="117475"/>
            <a:ext cx="9217025" cy="1655763"/>
          </a:xfrm>
          <a:prstGeom prst="rect">
            <a:avLst/>
          </a:prstGeom>
          <a:noFill/>
          <a:ln w="9525">
            <a:noFill/>
          </a:ln>
        </p:spPr>
        <p:txBody>
          <a:bodyPr lIns="45720" tIns="0" rIns="45720" bIns="0" anchor="b" anchorCtr="0"/>
          <a:lstStyle/>
          <a:p>
            <a:pPr eaLnBrk="1" hangingPunct="1"/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sz="4500" b="1" dirty="0">
                <a:latin typeface="Franklin Gothic Book" pitchFamily="34" charset="0"/>
                <a:sym typeface="黑体" panose="02010609060101010101" pitchFamily="49" charset="-122"/>
              </a:rPr>
              <a:t>判定表驱动法设计测试用例</a:t>
            </a:r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  <a:p>
            <a:pPr eaLnBrk="1" hangingPunct="1"/>
            <a:endParaRPr lang="zh-CN" altLang="en-US" sz="4500" b="1" dirty="0">
              <a:latin typeface="Franklin Gothic Book" pitchFamily="34" charset="0"/>
              <a:sym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3124200"/>
            <a:ext cx="5996305" cy="307022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zh-CN" altLang="en-US"/>
              <a:t>健壮性边界值分析法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矩形 37889"/>
          <p:cNvSpPr/>
          <p:nvPr/>
        </p:nvSpPr>
        <p:spPr>
          <a:xfrm>
            <a:off x="457200" y="1447800"/>
            <a:ext cx="8534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33400" lvl="0" indent="-533400" eaLnBrk="1" hangingPunct="1"/>
            <a:r>
              <a:rPr lang="zh-CN" altLang="en-US" sz="2000" dirty="0"/>
              <a:t>函数</a:t>
            </a:r>
            <a:r>
              <a:rPr lang="zh-CN" altLang="en-US" sz="2000" i="1" dirty="0"/>
              <a:t>y = f (x</a:t>
            </a:r>
            <a:r>
              <a:rPr lang="zh-CN" altLang="en-US" sz="2000" i="1" baseline="-25000" dirty="0"/>
              <a:t>1</a:t>
            </a:r>
            <a:r>
              <a:rPr lang="zh-CN" altLang="en-US" sz="2000" i="1" dirty="0"/>
              <a:t>,x</a:t>
            </a:r>
            <a:r>
              <a:rPr lang="zh-CN" altLang="en-US" sz="2000" i="1" baseline="-25000" dirty="0"/>
              <a:t>2</a:t>
            </a:r>
            <a:r>
              <a:rPr lang="zh-CN" altLang="en-US" sz="2000" i="1" dirty="0"/>
              <a:t>)</a:t>
            </a:r>
            <a:r>
              <a:rPr lang="zh-CN" altLang="en-US" sz="2000" dirty="0"/>
              <a:t> 输入变量的取值范围分别为:</a:t>
            </a:r>
            <a:r>
              <a:rPr lang="zh-CN" altLang="en-US" sz="2000" i="1" dirty="0"/>
              <a:t>x</a:t>
            </a:r>
            <a:r>
              <a:rPr lang="zh-CN" altLang="en-US" sz="2000" i="1" baseline="-25000" dirty="0"/>
              <a:t>1 </a:t>
            </a:r>
            <a:r>
              <a:rPr lang="zh-CN" altLang="en-US" sz="2000" dirty="0">
                <a:latin typeface="Times New Roman" panose="02020603050405020304" pitchFamily="18" charset="0"/>
              </a:rPr>
              <a:t>∈[a,b], </a:t>
            </a:r>
            <a:r>
              <a:rPr lang="zh-CN" altLang="en-US" sz="2000" i="1" dirty="0"/>
              <a:t>x</a:t>
            </a:r>
            <a:r>
              <a:rPr lang="zh-CN" altLang="en-US" sz="2000" i="1" baseline="-25000" dirty="0"/>
              <a:t>2 </a:t>
            </a:r>
            <a:r>
              <a:rPr lang="zh-CN" altLang="en-US" sz="2000" dirty="0">
                <a:latin typeface="Times New Roman" panose="02020603050405020304" pitchFamily="18" charset="0"/>
              </a:rPr>
              <a:t>∈ [c,d] , </a:t>
            </a:r>
            <a:endParaRPr lang="zh-CN" altLang="en-US" sz="2000" dirty="0"/>
          </a:p>
        </p:txBody>
      </p:sp>
      <p:sp>
        <p:nvSpPr>
          <p:cNvPr id="110595" name="标题 3789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健壮边界值方法</a:t>
            </a:r>
            <a:endParaRPr lang="zh-CN" altLang="en-US" dirty="0"/>
          </a:p>
        </p:txBody>
      </p:sp>
      <p:sp>
        <p:nvSpPr>
          <p:cNvPr id="110596" name="文本框 37891"/>
          <p:cNvSpPr txBox="1"/>
          <p:nvPr/>
        </p:nvSpPr>
        <p:spPr>
          <a:xfrm>
            <a:off x="2140585" y="5410200"/>
            <a:ext cx="2590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latin typeface="Tahoma" panose="020B0604030504040204" pitchFamily="34" charset="0"/>
              </a:rPr>
              <a:t>健壮边界值</a:t>
            </a:r>
            <a:endParaRPr lang="zh-CN" altLang="en-US" sz="1400" baseline="-25000" dirty="0">
              <a:latin typeface="Tahoma" panose="020B0604030504040204" pitchFamily="34" charset="0"/>
            </a:endParaRPr>
          </a:p>
        </p:txBody>
      </p:sp>
      <p:sp>
        <p:nvSpPr>
          <p:cNvPr id="110597" name="椭圆 37892"/>
          <p:cNvSpPr/>
          <p:nvPr/>
        </p:nvSpPr>
        <p:spPr>
          <a:xfrm>
            <a:off x="3434398" y="3808413"/>
            <a:ext cx="144462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598" name="直接连接符 37893"/>
          <p:cNvSpPr/>
          <p:nvPr/>
        </p:nvSpPr>
        <p:spPr>
          <a:xfrm flipH="1" flipV="1">
            <a:off x="1848485" y="2514600"/>
            <a:ext cx="1588" cy="2590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599" name="直接连接符 37894"/>
          <p:cNvSpPr/>
          <p:nvPr/>
        </p:nvSpPr>
        <p:spPr>
          <a:xfrm>
            <a:off x="1634173" y="4962525"/>
            <a:ext cx="403225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0" name="椭圆 37895"/>
          <p:cNvSpPr/>
          <p:nvPr/>
        </p:nvSpPr>
        <p:spPr>
          <a:xfrm>
            <a:off x="2208848" y="3808413"/>
            <a:ext cx="144462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01" name="直接连接符 37896"/>
          <p:cNvSpPr/>
          <p:nvPr/>
        </p:nvSpPr>
        <p:spPr>
          <a:xfrm>
            <a:off x="1705610" y="3160713"/>
            <a:ext cx="38163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10602" name="直接连接符 37897"/>
          <p:cNvSpPr/>
          <p:nvPr/>
        </p:nvSpPr>
        <p:spPr>
          <a:xfrm>
            <a:off x="1777048" y="4529138"/>
            <a:ext cx="38163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10603" name="直接连接符 37898"/>
          <p:cNvSpPr/>
          <p:nvPr/>
        </p:nvSpPr>
        <p:spPr>
          <a:xfrm>
            <a:off x="2281873" y="2584450"/>
            <a:ext cx="0" cy="252095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10604" name="直接连接符 37899"/>
          <p:cNvSpPr/>
          <p:nvPr/>
        </p:nvSpPr>
        <p:spPr>
          <a:xfrm>
            <a:off x="4945698" y="2657475"/>
            <a:ext cx="0" cy="24479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10605" name="文本框 37900"/>
          <p:cNvSpPr txBox="1"/>
          <p:nvPr/>
        </p:nvSpPr>
        <p:spPr>
          <a:xfrm>
            <a:off x="2137410" y="5033963"/>
            <a:ext cx="3238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a</a:t>
            </a:r>
            <a:endParaRPr lang="en-US" altLang="zh-CN" sz="1600" i="1" dirty="0">
              <a:latin typeface="Tahoma" panose="020B0604030504040204" pitchFamily="34" charset="0"/>
            </a:endParaRPr>
          </a:p>
        </p:txBody>
      </p:sp>
      <p:sp>
        <p:nvSpPr>
          <p:cNvPr id="110606" name="文本框 37901"/>
          <p:cNvSpPr txBox="1"/>
          <p:nvPr/>
        </p:nvSpPr>
        <p:spPr>
          <a:xfrm>
            <a:off x="4801235" y="5056188"/>
            <a:ext cx="3238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b</a:t>
            </a:r>
            <a:endParaRPr lang="en-US" altLang="zh-CN" sz="1600" i="1" dirty="0">
              <a:latin typeface="Tahoma" panose="020B0604030504040204" pitchFamily="34" charset="0"/>
            </a:endParaRPr>
          </a:p>
        </p:txBody>
      </p:sp>
      <p:sp>
        <p:nvSpPr>
          <p:cNvPr id="110607" name="文本框 37902"/>
          <p:cNvSpPr txBox="1"/>
          <p:nvPr/>
        </p:nvSpPr>
        <p:spPr>
          <a:xfrm>
            <a:off x="1345248" y="4337050"/>
            <a:ext cx="3238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c</a:t>
            </a:r>
            <a:endParaRPr lang="en-US" altLang="zh-CN" sz="1600" i="1" dirty="0">
              <a:latin typeface="Tahoma" panose="020B0604030504040204" pitchFamily="34" charset="0"/>
            </a:endParaRPr>
          </a:p>
        </p:txBody>
      </p:sp>
      <p:sp>
        <p:nvSpPr>
          <p:cNvPr id="110608" name="文本框 37903"/>
          <p:cNvSpPr txBox="1"/>
          <p:nvPr/>
        </p:nvSpPr>
        <p:spPr>
          <a:xfrm>
            <a:off x="1345248" y="3016250"/>
            <a:ext cx="3238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d</a:t>
            </a:r>
            <a:endParaRPr lang="en-US" altLang="zh-CN" sz="1600" i="1" dirty="0">
              <a:latin typeface="Tahoma" panose="020B0604030504040204" pitchFamily="34" charset="0"/>
            </a:endParaRPr>
          </a:p>
        </p:txBody>
      </p:sp>
      <p:sp>
        <p:nvSpPr>
          <p:cNvPr id="110609" name="文本框 37904"/>
          <p:cNvSpPr txBox="1"/>
          <p:nvPr/>
        </p:nvSpPr>
        <p:spPr>
          <a:xfrm>
            <a:off x="1345248" y="2514600"/>
            <a:ext cx="50323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X</a:t>
            </a:r>
            <a:r>
              <a:rPr lang="en-US" altLang="zh-CN" sz="1600" i="1" baseline="-25000" dirty="0">
                <a:latin typeface="Tahoma" panose="020B0604030504040204" pitchFamily="34" charset="0"/>
              </a:rPr>
              <a:t>2</a:t>
            </a:r>
            <a:endParaRPr lang="en-US" altLang="zh-CN" sz="1600" i="1" baseline="-25000" dirty="0">
              <a:latin typeface="Tahoma" panose="020B0604030504040204" pitchFamily="34" charset="0"/>
            </a:endParaRPr>
          </a:p>
        </p:txBody>
      </p:sp>
      <p:sp>
        <p:nvSpPr>
          <p:cNvPr id="110610" name="文本框 37905"/>
          <p:cNvSpPr txBox="1"/>
          <p:nvPr/>
        </p:nvSpPr>
        <p:spPr>
          <a:xfrm>
            <a:off x="5523548" y="5056188"/>
            <a:ext cx="50323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i="1" dirty="0">
                <a:latin typeface="Tahoma" panose="020B0604030504040204" pitchFamily="34" charset="0"/>
              </a:rPr>
              <a:t>X</a:t>
            </a:r>
            <a:r>
              <a:rPr lang="en-US" altLang="zh-CN" sz="1600" i="1" baseline="-25000" dirty="0">
                <a:latin typeface="Tahoma" panose="020B0604030504040204" pitchFamily="34" charset="0"/>
              </a:rPr>
              <a:t>1</a:t>
            </a:r>
            <a:endParaRPr lang="en-US" altLang="zh-CN" sz="1600" i="1" baseline="-25000" dirty="0">
              <a:latin typeface="Tahoma" panose="020B0604030504040204" pitchFamily="34" charset="0"/>
            </a:endParaRPr>
          </a:p>
        </p:txBody>
      </p:sp>
      <p:sp>
        <p:nvSpPr>
          <p:cNvPr id="110611" name="椭圆 37906"/>
          <p:cNvSpPr/>
          <p:nvPr/>
        </p:nvSpPr>
        <p:spPr>
          <a:xfrm>
            <a:off x="2424748" y="3808413"/>
            <a:ext cx="144462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2" name="椭圆 37907"/>
          <p:cNvSpPr/>
          <p:nvPr/>
        </p:nvSpPr>
        <p:spPr>
          <a:xfrm>
            <a:off x="3432810" y="3808413"/>
            <a:ext cx="144463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3" name="椭圆 37908"/>
          <p:cNvSpPr/>
          <p:nvPr/>
        </p:nvSpPr>
        <p:spPr>
          <a:xfrm>
            <a:off x="4585335" y="3808413"/>
            <a:ext cx="144463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4" name="椭圆 37909"/>
          <p:cNvSpPr/>
          <p:nvPr/>
        </p:nvSpPr>
        <p:spPr>
          <a:xfrm>
            <a:off x="4874260" y="3808413"/>
            <a:ext cx="144463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5" name="椭圆 37910"/>
          <p:cNvSpPr/>
          <p:nvPr/>
        </p:nvSpPr>
        <p:spPr>
          <a:xfrm>
            <a:off x="3434398" y="3089275"/>
            <a:ext cx="144462" cy="144463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6" name="椭圆 37911"/>
          <p:cNvSpPr/>
          <p:nvPr/>
        </p:nvSpPr>
        <p:spPr>
          <a:xfrm>
            <a:off x="3434398" y="3305175"/>
            <a:ext cx="144462" cy="144463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7" name="椭圆 37912"/>
          <p:cNvSpPr/>
          <p:nvPr/>
        </p:nvSpPr>
        <p:spPr>
          <a:xfrm>
            <a:off x="3434398" y="4240213"/>
            <a:ext cx="144462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0618" name="椭圆 37913"/>
          <p:cNvSpPr/>
          <p:nvPr/>
        </p:nvSpPr>
        <p:spPr>
          <a:xfrm>
            <a:off x="3432810" y="4456113"/>
            <a:ext cx="144463" cy="144462"/>
          </a:xfrm>
          <a:prstGeom prst="ellipse">
            <a:avLst/>
          </a:prstGeom>
          <a:solidFill>
            <a:srgbClr val="969696"/>
          </a:solidFill>
          <a:ln w="12700" cap="sq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7915" name="椭圆 37914"/>
          <p:cNvSpPr/>
          <p:nvPr/>
        </p:nvSpPr>
        <p:spPr>
          <a:xfrm>
            <a:off x="1991360" y="38100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7916" name="椭圆 37915"/>
          <p:cNvSpPr/>
          <p:nvPr/>
        </p:nvSpPr>
        <p:spPr>
          <a:xfrm>
            <a:off x="3432810" y="2874963"/>
            <a:ext cx="144463" cy="144462"/>
          </a:xfrm>
          <a:prstGeom prst="ellipse">
            <a:avLst/>
          </a:prstGeom>
          <a:solidFill>
            <a:srgbClr val="0000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7917" name="椭圆 37916"/>
          <p:cNvSpPr/>
          <p:nvPr/>
        </p:nvSpPr>
        <p:spPr>
          <a:xfrm>
            <a:off x="3432810" y="4675188"/>
            <a:ext cx="144463" cy="144462"/>
          </a:xfrm>
          <a:prstGeom prst="ellipse">
            <a:avLst/>
          </a:prstGeom>
          <a:solidFill>
            <a:srgbClr val="0000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7918" name="椭圆 37917"/>
          <p:cNvSpPr/>
          <p:nvPr/>
        </p:nvSpPr>
        <p:spPr>
          <a:xfrm>
            <a:off x="5088573" y="381000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2940" y="2430780"/>
            <a:ext cx="3098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ym typeface="+mn-ea"/>
              </a:rPr>
              <a:t>x</a:t>
            </a:r>
            <a:r>
              <a:rPr lang="zh-CN" altLang="en-US" i="1" baseline="-25000" dirty="0">
                <a:sym typeface="+mn-ea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a-,a,a+,(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),b-,b,b+</a:t>
            </a:r>
            <a:endParaRPr lang="en-US" altLang="zh-CN" dirty="0">
              <a:latin typeface="Times New Roman" panose="02020603050405020304" pitchFamily="18" charset="0"/>
              <a:sym typeface="+mn-ea"/>
            </a:endParaRPr>
          </a:p>
          <a:p>
            <a:r>
              <a:rPr lang="zh-CN" altLang="en-US" i="1" dirty="0">
                <a:sym typeface="+mn-ea"/>
              </a:rPr>
              <a:t>x</a:t>
            </a:r>
            <a:r>
              <a:rPr lang="zh-CN" altLang="en-US" i="1" baseline="-25000" dirty="0">
                <a:sym typeface="+mn-ea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c-,c,c+,(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),d-,d,d+</a:t>
            </a:r>
            <a:endParaRPr lang="en-US" altLang="zh-CN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ym typeface="+mn-ea"/>
              </a:rPr>
              <a:t>健壮边界值方法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503555" y="1622425"/>
            <a:ext cx="8229600" cy="346646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某烟酒商店主要销售某种品牌的白酒、红酒和啤酒。白酒、红酒和啤酒的单价分别为500元、600元和20元，</a:t>
            </a:r>
            <a:r>
              <a:rPr lang="zh-CN" altLang="en-US" dirty="0">
                <a:solidFill>
                  <a:srgbClr val="FF0000"/>
                </a:solidFill>
              </a:rPr>
              <a:t>商店每月最多只允许销售100瓶白酒、 200瓶红酒和 1000瓶啤酒。</a:t>
            </a:r>
            <a:r>
              <a:rPr lang="zh-CN" altLang="en-US" dirty="0"/>
              <a:t>根据销售业绩，商店每月计算利润收入。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ym typeface="+mn-ea"/>
              </a:rPr>
              <a:t>健壮边界值方法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3733483" y="1503363"/>
          <a:ext cx="4244975" cy="4836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245"/>
                <a:gridCol w="485775"/>
                <a:gridCol w="541655"/>
                <a:gridCol w="631190"/>
                <a:gridCol w="975995"/>
                <a:gridCol w="920115"/>
              </a:tblGrid>
              <a:tr h="229899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用例编号</a:t>
                      </a:r>
                      <a:endParaRPr lang="zh-CN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输入数据（单位：瓶）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预期输出（单位：元）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备注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白酒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红酒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啤酒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基础用例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02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03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04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05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99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06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07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白酒的边界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08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红酒的边界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09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红酒的边界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红酒的边界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红酒的边界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红酒的边界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红酒的边界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啤酒的边界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啤酒的边界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啤酒的边界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999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啤酒的边界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啤酒的边界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1001</a:t>
                      </a:r>
                      <a:endParaRPr lang="en-US" altLang="en-US" sz="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无效</a:t>
                      </a:r>
                      <a:endParaRPr lang="zh-CN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啤酒的边界</a:t>
                      </a:r>
                      <a:endParaRPr lang="en-US" altLang="en-US" sz="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99313" y="188913"/>
            <a:ext cx="1693863" cy="79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2400" y="2743200"/>
            <a:ext cx="2339975" cy="1529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答：根据就公式：</a:t>
            </a:r>
            <a:r>
              <a:rPr lang="en-US" altLang="zh-CN" dirty="0"/>
              <a:t>6n+1</a:t>
            </a:r>
            <a:r>
              <a:rPr lang="zh-CN" altLang="en-US" dirty="0"/>
              <a:t>，每个变量的</a:t>
            </a:r>
            <a:r>
              <a:rPr lang="en-US" altLang="zh-CN" dirty="0"/>
              <a:t>6</a:t>
            </a:r>
            <a:r>
              <a:rPr lang="zh-CN" altLang="en-US" dirty="0"/>
              <a:t>个边界值：</a:t>
            </a:r>
            <a:r>
              <a:rPr lang="en-US" altLang="zh-CN" dirty="0"/>
              <a:t>3</a:t>
            </a:r>
            <a:r>
              <a:rPr lang="en-US" altLang="en-US" dirty="0"/>
              <a:t>×</a:t>
            </a:r>
            <a:r>
              <a:rPr lang="en-US" altLang="zh-CN" dirty="0"/>
              <a:t>6=18</a:t>
            </a:r>
            <a:r>
              <a:rPr lang="zh-CN" altLang="en-US" dirty="0"/>
              <a:t>个，基础用例：</a:t>
            </a:r>
            <a:r>
              <a:rPr lang="en-US" altLang="zh-CN" dirty="0"/>
              <a:t>1</a:t>
            </a:r>
            <a:r>
              <a:rPr lang="zh-CN" altLang="en-US" dirty="0"/>
              <a:t>个，一共</a:t>
            </a:r>
            <a:r>
              <a:rPr lang="en-US" altLang="zh-CN" dirty="0"/>
              <a:t>18+1=19</a:t>
            </a:r>
            <a:r>
              <a:rPr lang="zh-CN" altLang="en-US" dirty="0"/>
              <a:t>个。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86534" y="2590822"/>
            <a:ext cx="2057466" cy="53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45540" y="2900680"/>
            <a:ext cx="7239000" cy="1444625"/>
          </a:xfrm>
        </p:spPr>
        <p:txBody>
          <a:bodyPr/>
          <a:lstStyle/>
          <a:p>
            <a:r>
              <a:rPr lang="zh-CN" altLang="en-US"/>
              <a:t>独立路径测试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4600" y="2514600"/>
            <a:ext cx="487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xfrm>
            <a:off x="762100" y="609674"/>
            <a:ext cx="9144000" cy="4048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</a:rPr>
              <a:t>画出控制流图，计算环形复杂度，独立路径及测试用例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28872" y="1524050"/>
            <a:ext cx="46228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void test(int m, int n)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int x = 0;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int y = 0;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①  while (m &gt; 0)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②  if (n == 0)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③    x = y + 2; break; // 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，则在第一次迭代后退出循环</a:t>
            </a:r>
            <a:endParaRPr lang="zh-CN" altLang="en-US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④ if (n == 1)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⑤       y = 10;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else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⑥       y = y + 20;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⑦   m= m -1;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}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⑧}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xfrm>
            <a:off x="0" y="663575"/>
            <a:ext cx="9144000" cy="4048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作业：</a:t>
            </a:r>
            <a:r>
              <a:rPr lang="zh-CN" altLang="en-US" sz="2400" b="1" dirty="0">
                <a:solidFill>
                  <a:schemeClr val="tx1"/>
                </a:solidFill>
              </a:rPr>
              <a:t>画出控制流图，计算环形复杂度，独立路径及测试用例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42" y="1828842"/>
            <a:ext cx="462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答</a:t>
            </a:r>
            <a:r>
              <a:rPr lang="en-US" altLang="zh-CN" dirty="0">
                <a:sym typeface="Wingdings" panose="05000000000000000000" pitchFamily="2" charset="2"/>
              </a:rPr>
              <a:t>: 1.</a:t>
            </a:r>
            <a:r>
              <a:rPr lang="zh-CN" altLang="en-US" dirty="0"/>
              <a:t>对应的控制流图如下图所示。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36" y="2362228"/>
            <a:ext cx="4762500" cy="4067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4882" y="1068388"/>
            <a:ext cx="46228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void test(int m, int n)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int x = 0;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int y = 0;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①  while (m &gt; 0)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②  if (n == 0)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③    x = y + 2; break; // 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，则在第一次迭代后退出循环</a:t>
            </a:r>
            <a:endParaRPr lang="zh-CN" altLang="en-US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④ if (n == 1)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⑤       y = 10;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else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{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⑥       y = y + 20;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⑦   m= m -1;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} 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⑧}</a:t>
            </a:r>
            <a:endParaRPr lang="en-US" altLang="zh-CN" sz="1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xfrm>
            <a:off x="0" y="663575"/>
            <a:ext cx="9144000" cy="4048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作业：</a:t>
            </a:r>
            <a:r>
              <a:rPr lang="zh-CN" altLang="en-US" sz="2400" b="1" dirty="0">
                <a:solidFill>
                  <a:schemeClr val="tx1"/>
                </a:solidFill>
              </a:rPr>
              <a:t>画出控制流图，计算环形复杂度，独立路径及测试用例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0278" y="1828842"/>
            <a:ext cx="6400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2.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V(G)=3+1=4 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（有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个二分支节点，分别是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574900" y="2514624"/>
            <a:ext cx="65022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3: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独立路径如下：</a:t>
            </a:r>
            <a:endParaRPr lang="en-US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第一条：①→⑧</a:t>
            </a: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26670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第二条：①→②→③→⑧</a:t>
            </a: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26670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第三条：①→②→④→⑤→⑦→①→⑧</a:t>
            </a: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26670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第四条：①→②→④→⑥→⑦→①→⑧</a:t>
            </a: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xfrm>
            <a:off x="0" y="663575"/>
            <a:ext cx="9144000" cy="4048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作业：</a:t>
            </a:r>
            <a:r>
              <a:rPr lang="zh-CN" altLang="en-US" sz="2400" b="1" dirty="0">
                <a:solidFill>
                  <a:schemeClr val="tx1"/>
                </a:solidFill>
              </a:rPr>
              <a:t>画出控制流图，计算环形复杂度，独立路径及测试用例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0226" y="1653472"/>
            <a:ext cx="8153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根据独立路径设计测试用例（输入数据：</a:t>
            </a:r>
            <a:r>
              <a:rPr lang="en-US" altLang="zh-CN" dirty="0"/>
              <a:t>m, n</a:t>
            </a:r>
            <a:r>
              <a:rPr lang="zh-CN" altLang="en-US" dirty="0"/>
              <a:t>，输出数据：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）对应的测试用例如下表所示。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28714" y="2743218"/>
          <a:ext cx="8915286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1059"/>
                <a:gridCol w="2696522"/>
                <a:gridCol w="1319726"/>
                <a:gridCol w="3227979"/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</a:rPr>
                        <a:t>测试用例编号</a:t>
                      </a:r>
                      <a:endParaRPr lang="zh-CN" alt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</a:rPr>
                        <a:t>输入数据</a:t>
                      </a:r>
                      <a:endParaRPr lang="zh-CN" alt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</a:rPr>
                        <a:t>预期输出</a:t>
                      </a:r>
                      <a:endParaRPr lang="zh-CN" alt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</a:rPr>
                        <a:t>覆盖路径</a:t>
                      </a:r>
                      <a:endParaRPr lang="zh-CN" alt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CASE1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m=0  n=0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x=0  y=0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</a:rPr>
                        <a:t>①→⑧</a:t>
                      </a:r>
                      <a:endParaRPr lang="zh-CN" alt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CASE2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m=1  n=0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x=2  y=0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</a:rPr>
                        <a:t>①→②→③→⑧</a:t>
                      </a:r>
                      <a:endParaRPr lang="zh-CN" alt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CASE3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m=1  n=1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x=0  y=10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</a:rPr>
                        <a:t>①→②→④→⑤→⑦→①→⑧</a:t>
                      </a:r>
                      <a:endParaRPr lang="zh-CN" alt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CASE4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m=1  n=2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x=0  y=20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</a:rPr>
                        <a:t>①→②→④→⑥→⑦→①→⑧</a:t>
                      </a:r>
                      <a:endParaRPr lang="zh-CN" alt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tags/tag1.xml><?xml version="1.0" encoding="utf-8"?>
<p:tagLst xmlns:p="http://schemas.openxmlformats.org/presentationml/2006/main">
  <p:tag name="TABLE_ENDDRAG_ORIGIN_RECT" val="619*292"/>
  <p:tag name="TABLE_ENDDRAG_RECT" val="50*208*619*292"/>
</p:tagLst>
</file>

<file path=ppt/tags/tag2.xml><?xml version="1.0" encoding="utf-8"?>
<p:tagLst xmlns:p="http://schemas.openxmlformats.org/presentationml/2006/main">
  <p:tag name="TABLE_ENDDRAG_ORIGIN_RECT" val="619*115"/>
  <p:tag name="TABLE_ENDDRAG_RECT" val="50*241*619*115"/>
</p:tagLst>
</file>

<file path=ppt/tags/tag3.xml><?xml version="1.0" encoding="utf-8"?>
<p:tagLst xmlns:p="http://schemas.openxmlformats.org/presentationml/2006/main">
  <p:tag name="COMMONDATA" val="eyJoZGlkIjoiZTY5ODk4Zjk3NzhiODRkNTYxYWQ1NWFkMzM1ZDkwMDIifQ=="/>
</p:tagLst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楷体_GB2312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楷体_GB2312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6219</Words>
  <Application>WPS 演示</Application>
  <PresentationFormat>全屏显示(4:3)</PresentationFormat>
  <Paragraphs>1167</Paragraphs>
  <Slides>32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宋体</vt:lpstr>
      <vt:lpstr>Wingdings</vt:lpstr>
      <vt:lpstr>Verdana</vt:lpstr>
      <vt:lpstr>楷体_GB2312</vt:lpstr>
      <vt:lpstr>新宋体</vt:lpstr>
      <vt:lpstr>黑体</vt:lpstr>
      <vt:lpstr>Times New Roman</vt:lpstr>
      <vt:lpstr>Comic Sans MS</vt:lpstr>
      <vt:lpstr>微软雅黑</vt:lpstr>
      <vt:lpstr>Arial Unicode MS</vt:lpstr>
      <vt:lpstr>Arial</vt:lpstr>
      <vt:lpstr>Times New Roman</vt:lpstr>
      <vt:lpstr>Wingdings 2</vt:lpstr>
      <vt:lpstr>Franklin Gothic Book</vt:lpstr>
      <vt:lpstr>Tahoma</vt:lpstr>
      <vt:lpstr>Calibri</vt:lpstr>
      <vt:lpstr>Eclipse</vt:lpstr>
      <vt:lpstr>1_Eclipse</vt:lpstr>
      <vt:lpstr>等价类划分</vt:lpstr>
      <vt:lpstr>等价类划分方法</vt:lpstr>
      <vt:lpstr>确定等价类的方法</vt:lpstr>
      <vt:lpstr>例1</vt:lpstr>
      <vt:lpstr>例1</vt:lpstr>
      <vt:lpstr>例1</vt:lpstr>
      <vt:lpstr>例1</vt:lpstr>
      <vt:lpstr>白盒测试-条件组合覆盖</vt:lpstr>
      <vt:lpstr>6.6 条件组合测试</vt:lpstr>
      <vt:lpstr>示例 (1) 根据代码实现：条件组合测试</vt:lpstr>
      <vt:lpstr>示例 (1)</vt:lpstr>
      <vt:lpstr>设计测试用例</vt:lpstr>
      <vt:lpstr>junit单元测试</vt:lpstr>
      <vt:lpstr>PowerPoint 演示文稿</vt:lpstr>
      <vt:lpstr>PowerPoint 演示文稿</vt:lpstr>
      <vt:lpstr>判定表</vt:lpstr>
      <vt:lpstr>判定表元素</vt:lpstr>
      <vt:lpstr>判定表方法步骤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健壮性边界值分析法</vt:lpstr>
      <vt:lpstr>健壮边界值方法</vt:lpstr>
      <vt:lpstr>健壮边界值方法</vt:lpstr>
      <vt:lpstr>健壮边界值方法</vt:lpstr>
      <vt:lpstr>独立路径测试</vt:lpstr>
      <vt:lpstr>画出控制流图，计算环形复杂度，独立路径及测试用例</vt:lpstr>
      <vt:lpstr>作业：画出控制流图，计算环形复杂度，独立路径及测试用例</vt:lpstr>
      <vt:lpstr>作业：画出控制流图，计算环形复杂度，独立路径及测试用例</vt:lpstr>
      <vt:lpstr>作业：画出控制流图，计算环形复杂度，独立路径及测试用例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zhd</dc:creator>
  <cp:lastModifiedBy>Destiny</cp:lastModifiedBy>
  <cp:revision>382</cp:revision>
  <dcterms:created xsi:type="dcterms:W3CDTF">2021-02-28T23:46:00Z</dcterms:created>
  <dcterms:modified xsi:type="dcterms:W3CDTF">2025-12-24T15:35:10Z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2052-12.1.0.24034</vt:lpwstr>
  </property>
  <property fmtid="{D5CDD505-2E9C-101B-9397-08002B2CF9AE}" pid="4" name="ICV">
    <vt:lpwstr>3F1DD2DEA7864A7395E93CACFDD7E323</vt:lpwstr>
  </property>
</Properties>
</file>